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" charset="1" panose="020F0502020204030204"/>
      <p:regular r:id="rId32"/>
    </p:embeddedFont>
    <p:embeddedFont>
      <p:font typeface="Calibri (MS) Bold" charset="1" panose="020F0702030404030204"/>
      <p:regular r:id="rId33"/>
    </p:embeddedFont>
    <p:embeddedFont>
      <p:font typeface="Calibri (MS) Italics" charset="1" panose="020F05020202040A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notesMaster" Target="notesMasters/notesMaster1.xml"/><Relationship Id="rId30" Type="http://schemas.openxmlformats.org/officeDocument/2006/relationships/theme" Target="theme/theme2.xml"/><Relationship Id="rId31" Type="http://schemas.openxmlformats.org/officeDocument/2006/relationships/notesSlide" Target="notesSlides/notesSlide1.xml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notesSlide" Target="notesSlides/notesSlide2.xml"/><Relationship Id="rId36" Type="http://schemas.openxmlformats.org/officeDocument/2006/relationships/notesSlide" Target="notesSlides/notesSlide3.xml"/><Relationship Id="rId37" Type="http://schemas.openxmlformats.org/officeDocument/2006/relationships/notesSlide" Target="notesSlides/notesSlide4.xml"/><Relationship Id="rId38" Type="http://schemas.openxmlformats.org/officeDocument/2006/relationships/notesSlide" Target="notesSlides/notesSlide5.xml"/><Relationship Id="rId39" Type="http://schemas.openxmlformats.org/officeDocument/2006/relationships/notesSlide" Target="notesSlides/notesSlide6.xml"/><Relationship Id="rId40" Type="http://schemas.openxmlformats.org/officeDocument/2006/relationships/notesSlide" Target="notesSlides/notesSlide7.xml"/><Relationship Id="rId41" Type="http://schemas.openxmlformats.org/officeDocument/2006/relationships/notesSlide" Target="notesSlides/notesSlide8.xml"/><Relationship Id="rId42" Type="http://schemas.openxmlformats.org/officeDocument/2006/relationships/notesSlide" Target="notesSlides/notesSlide9.xml"/><Relationship Id="rId43" Type="http://schemas.openxmlformats.org/officeDocument/2006/relationships/notesSlide" Target="notesSlides/notesSlide10.xml"/><Relationship Id="rId44" Type="http://schemas.openxmlformats.org/officeDocument/2006/relationships/notesSlide" Target="notesSlides/notesSlide11.xml"/><Relationship Id="rId45" Type="http://schemas.openxmlformats.org/officeDocument/2006/relationships/notesSlide" Target="notesSlides/notesSlide12.xml"/><Relationship Id="rId46" Type="http://schemas.openxmlformats.org/officeDocument/2006/relationships/notesSlide" Target="notesSlides/notesSlide13.xml"/><Relationship Id="rId47" Type="http://schemas.openxmlformats.org/officeDocument/2006/relationships/notesSlide" Target="notesSlides/notesSlide14.xml"/><Relationship Id="rId48" Type="http://schemas.openxmlformats.org/officeDocument/2006/relationships/notesSlide" Target="notesSlides/notesSlide15.xml"/><Relationship Id="rId49" Type="http://schemas.openxmlformats.org/officeDocument/2006/relationships/notesSlide" Target="notesSlides/notesSlide16.xml"/><Relationship Id="rId50" Type="http://schemas.openxmlformats.org/officeDocument/2006/relationships/notesSlide" Target="notesSlides/notesSlide17.xml"/><Relationship Id="rId51" Type="http://schemas.openxmlformats.org/officeDocument/2006/relationships/notesSlide" Target="notesSlides/notesSlide18.xml"/><Relationship Id="rId52" Type="http://schemas.openxmlformats.org/officeDocument/2006/relationships/notesSlide" Target="notesSlides/notesSlide19.xml"/><Relationship Id="rId53" Type="http://schemas.openxmlformats.org/officeDocument/2006/relationships/notesSlide" Target="notesSlides/notesSlide20.xml"/><Relationship Id="rId54" Type="http://schemas.openxmlformats.org/officeDocument/2006/relationships/notesSlide" Target="notesSlides/notesSlide21.xml"/><Relationship Id="rId55" Type="http://schemas.openxmlformats.org/officeDocument/2006/relationships/notesSlide" Target="notesSlides/notesSlide22.xml"/><Relationship Id="rId56" Type="http://schemas.openxmlformats.org/officeDocument/2006/relationships/notesSlide" Target="notesSlides/notes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3040" y="2743200"/>
            <a:ext cx="15727680" cy="731520"/>
            <a:chOff x="0" y="0"/>
            <a:chExt cx="2097024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9702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spc="799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Machine Learning Appliqué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3040" y="3657600"/>
            <a:ext cx="15727680" cy="2926080"/>
            <a:chOff x="0" y="0"/>
            <a:chExt cx="20970240" cy="3901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70239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20970240" cy="405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Appliqué</a:t>
              </a:r>
            </a:p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 Dépistage du Diabète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3990" y="7021830"/>
            <a:ext cx="2781300" cy="38100"/>
            <a:chOff x="0" y="0"/>
            <a:chExt cx="370840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" y="7223760"/>
            <a:ext cx="15727680" cy="731520"/>
            <a:chOff x="0" y="0"/>
            <a:chExt cx="2097024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0970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Commerciale  ·  ESPRIT 2025-2026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3040" y="8778240"/>
            <a:ext cx="15727680" cy="548640"/>
            <a:chOff x="0" y="0"/>
            <a:chExt cx="20970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970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9CB3C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 du module : Dr. Jihen Hlel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la présentation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30503" y="2693927"/>
            <a:ext cx="354587" cy="354587"/>
            <a:chOff x="0" y="0"/>
            <a:chExt cx="472783" cy="4727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383280" y="2468880"/>
            <a:ext cx="12801600" cy="822960"/>
            <a:chOff x="0" y="0"/>
            <a:chExt cx="170688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Introduction &amp; Problématique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30503" y="3516887"/>
            <a:ext cx="354587" cy="354587"/>
            <a:chOff x="0" y="0"/>
            <a:chExt cx="472783" cy="4727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383280" y="3291840"/>
            <a:ext cx="12801600" cy="822960"/>
            <a:chOff x="0" y="0"/>
            <a:chExt cx="170688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Compréhension métier – BO &amp; DSO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30503" y="4339847"/>
            <a:ext cx="354587" cy="354587"/>
            <a:chOff x="0" y="0"/>
            <a:chExt cx="472783" cy="4727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83280" y="4114800"/>
            <a:ext cx="12801600" cy="822960"/>
            <a:chOff x="0" y="0"/>
            <a:chExt cx="1706880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Compréhension des données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730503" y="5162807"/>
            <a:ext cx="354587" cy="354587"/>
            <a:chOff x="0" y="0"/>
            <a:chExt cx="472783" cy="4727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383280" y="4937760"/>
            <a:ext cx="12801600" cy="822960"/>
            <a:chOff x="0" y="0"/>
            <a:chExt cx="1706880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Préparation des données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730503" y="5985767"/>
            <a:ext cx="354587" cy="354587"/>
            <a:chOff x="0" y="0"/>
            <a:chExt cx="472783" cy="472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383280" y="5760720"/>
            <a:ext cx="12801600" cy="822960"/>
            <a:chOff x="0" y="0"/>
            <a:chExt cx="170688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Modélisation &amp; Benchmarking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730503" y="6808727"/>
            <a:ext cx="354587" cy="354587"/>
            <a:chOff x="0" y="0"/>
            <a:chExt cx="472783" cy="4727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383280" y="6583680"/>
            <a:ext cx="12801600" cy="822960"/>
            <a:chOff x="0" y="0"/>
            <a:chExt cx="170688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Déploiement &amp; Démonstration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730503" y="7631687"/>
            <a:ext cx="354587" cy="354587"/>
            <a:chOff x="0" y="0"/>
            <a:chExt cx="472783" cy="4727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383280" y="7406640"/>
            <a:ext cx="12801600" cy="822960"/>
            <a:chOff x="0" y="0"/>
            <a:chExt cx="1706880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Conclusion &amp; Perspectives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23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&amp; Problématique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– Contexte &amp; Motivation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03120"/>
            <a:ext cx="8229600" cy="731520"/>
            <a:chOff x="0" y="0"/>
            <a:chExt cx="109728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clinique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34640"/>
            <a:ext cx="8229600" cy="4572000"/>
            <a:chOff x="0" y="0"/>
            <a:chExt cx="10972800" cy="609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0" cy="614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diabète touche plus de 537 millions d'adultes dans le monde (IDF, 2021). Maladie chronique souvent diagnostiquée tardivement, elle représente un coût de santé estimé à 966 milliards USD par an. Une détection précoce permet de réduire les complications de l'ordre de 50 %.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9760" y="2103120"/>
            <a:ext cx="7863840" cy="731520"/>
            <a:chOff x="0" y="0"/>
            <a:chExt cx="1048512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740" r="0" b="-2677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Notre approche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09760" y="2834640"/>
            <a:ext cx="7863840" cy="5120640"/>
            <a:chOff x="0" y="0"/>
            <a:chExt cx="10485120" cy="6827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51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546" t="0" r="-3354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485120" cy="687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: 100 000 patients, 31 variables.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objectifs ML : clustering, régression, classification binaire et multiclasse.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Modèles comparés : XGBoost, Random Forest, Decision Tree, SVM, Naive Bayes, K-Means, DBSCAN.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Finalité : aide à la décision clinique et prévention ciblée.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8047" y="7948927"/>
            <a:ext cx="5316217" cy="1384297"/>
            <a:chOff x="0" y="0"/>
            <a:chExt cx="7088289" cy="18457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8046720"/>
            <a:ext cx="2377440" cy="1188720"/>
            <a:chOff x="0" y="0"/>
            <a:chExt cx="316992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537 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66160" y="8046720"/>
            <a:ext cx="2560320" cy="1188720"/>
            <a:chOff x="0" y="0"/>
            <a:chExt cx="3413760" cy="1584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patients diabétiques (monde)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85887" y="7948927"/>
            <a:ext cx="5316217" cy="1384297"/>
            <a:chOff x="0" y="0"/>
            <a:chExt cx="7088289" cy="1845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75120" y="8046720"/>
            <a:ext cx="2377440" cy="1188720"/>
            <a:chOff x="0" y="0"/>
            <a:chExt cx="3169920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966 Md $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8046720"/>
            <a:ext cx="2560320" cy="1188720"/>
            <a:chOff x="0" y="0"/>
            <a:chExt cx="341376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 annuel mondial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63727" y="7948927"/>
            <a:ext cx="5316217" cy="1384297"/>
            <a:chOff x="0" y="0"/>
            <a:chExt cx="7088289" cy="18457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52960" y="8046720"/>
            <a:ext cx="2377440" cy="1188720"/>
            <a:chOff x="0" y="0"/>
            <a:chExt cx="316992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−50 %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721840" y="8046720"/>
            <a:ext cx="2560320" cy="1188720"/>
            <a:chOff x="0" y="0"/>
            <a:chExt cx="3413760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complications si détection précoce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métier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06240" y="4937760"/>
            <a:ext cx="13167360" cy="914400"/>
            <a:chOff x="0" y="0"/>
            <a:chExt cx="1755648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6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556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B8E1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Business Objectives (BO) &amp; Data Science Objectives (DSO)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métier – BO &amp; DSO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865376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= Business Objective  ·  DSO = Data Science Objective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639063"/>
            <a:ext cx="16484603" cy="1543307"/>
            <a:chOff x="0" y="0"/>
            <a:chExt cx="21979471" cy="20577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1945599" cy="2023872"/>
            </a:xfrm>
            <a:custGeom>
              <a:avLst/>
              <a:gdLst/>
              <a:ahLst/>
              <a:cxnLst/>
              <a:rect r="r" b="b" t="t" l="l"/>
              <a:pathLst>
                <a:path h="202387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793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040763"/>
                  </a:lnTo>
                  <a:cubicBezTo>
                    <a:pt x="21979382" y="2050161"/>
                    <a:pt x="21971763" y="2057654"/>
                    <a:pt x="21962490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21962490" y="2023872"/>
                  </a:lnTo>
                  <a:lnTo>
                    <a:pt x="21962490" y="2040763"/>
                  </a:lnTo>
                  <a:lnTo>
                    <a:pt x="21945600" y="204076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2834640"/>
            <a:ext cx="1463040" cy="640080"/>
            <a:chOff x="0" y="0"/>
            <a:chExt cx="195072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3346704"/>
            <a:ext cx="3383280" cy="731520"/>
            <a:chOff x="0" y="0"/>
            <a:chExt cx="451104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63440" y="2798064"/>
            <a:ext cx="8046720" cy="1335024"/>
            <a:chOff x="0" y="0"/>
            <a:chExt cx="10728960" cy="1780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Identifier des groupes de patients selon leur profil de risque pour des campagnes de prévention ciblées.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1600" y="2798064"/>
            <a:ext cx="4572000" cy="1335024"/>
            <a:chOff x="0" y="0"/>
            <a:chExt cx="6096000" cy="17800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K-Means (k=4), DBSCAN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4443984"/>
            <a:ext cx="1463040" cy="640080"/>
            <a:chOff x="0" y="0"/>
            <a:chExt cx="195072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4956048"/>
            <a:ext cx="3383280" cy="731520"/>
            <a:chOff x="0" y="0"/>
            <a:chExt cx="451104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Régression du score de risque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63440" y="4407408"/>
            <a:ext cx="8046720" cy="1335024"/>
            <a:chOff x="0" y="0"/>
            <a:chExt cx="10728960" cy="1780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Minimiser les erreurs de prédiction du score de risque afin de ne pas sous-estimer la dangerosité d'un profil.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01600" y="4407408"/>
            <a:ext cx="4572000" cy="1335024"/>
            <a:chOff x="0" y="0"/>
            <a:chExt cx="6096000" cy="17800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XGBoost, Decision Tree, Random Forest, Reg. Linéaire &amp; Polynomiale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857751"/>
            <a:ext cx="16484603" cy="1543307"/>
            <a:chOff x="0" y="0"/>
            <a:chExt cx="21979471" cy="20577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1945599" cy="2023872"/>
            </a:xfrm>
            <a:custGeom>
              <a:avLst/>
              <a:gdLst/>
              <a:ahLst/>
              <a:cxnLst/>
              <a:rect r="r" b="b" t="t" l="l"/>
              <a:pathLst>
                <a:path h="202387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793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040763"/>
                  </a:lnTo>
                  <a:cubicBezTo>
                    <a:pt x="21979382" y="2050161"/>
                    <a:pt x="21971763" y="2057654"/>
                    <a:pt x="21962490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21962490" y="2023872"/>
                  </a:lnTo>
                  <a:lnTo>
                    <a:pt x="21962490" y="2040763"/>
                  </a:lnTo>
                  <a:lnTo>
                    <a:pt x="21945600" y="204076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6053328"/>
            <a:ext cx="1463040" cy="640080"/>
            <a:chOff x="0" y="0"/>
            <a:chExt cx="19507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7280" y="6565392"/>
            <a:ext cx="3383280" cy="731520"/>
            <a:chOff x="0" y="0"/>
            <a:chExt cx="451104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binaire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663440" y="6016752"/>
            <a:ext cx="8046720" cy="1335024"/>
            <a:chOff x="0" y="0"/>
            <a:chExt cx="10728960" cy="17800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Identifier les patients diabétiques à partir de leurs caractéristiques cliniques et comportementales.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801600" y="6016752"/>
            <a:ext cx="4572000" cy="1335024"/>
            <a:chOff x="0" y="0"/>
            <a:chExt cx="6096000" cy="17800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XGBoost, RF, Decision Tree, SVM (RBF/Poly), Naive Bayes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" y="7662672"/>
            <a:ext cx="1463040" cy="640080"/>
            <a:chOff x="0" y="0"/>
            <a:chExt cx="195072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7280" y="8174736"/>
            <a:ext cx="3383280" cy="731520"/>
            <a:chOff x="0" y="0"/>
            <a:chExt cx="451104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multiclasse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663440" y="7626096"/>
            <a:ext cx="8046720" cy="1335024"/>
            <a:chOff x="0" y="0"/>
            <a:chExt cx="10728960" cy="17800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Classifier le stade du diabète (No Diabetes, Pre-Diabetes, Type 1, Type 2, Gestational) pour orienter la prise en charge.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801600" y="7626096"/>
            <a:ext cx="4572000" cy="1335024"/>
            <a:chOff x="0" y="0"/>
            <a:chExt cx="6096000" cy="17800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Random Forest, Gradient Boosting, DT, LR, KNN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des données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– Vue d'ensemble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3840480" cy="1188720"/>
            <a:chOff x="0" y="0"/>
            <a:chExt cx="512064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100 000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255264"/>
            <a:ext cx="3840480" cy="548640"/>
            <a:chOff x="0" y="0"/>
            <a:chExt cx="5120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3749040"/>
            <a:ext cx="3840480" cy="548640"/>
            <a:chOff x="0" y="0"/>
            <a:chExt cx="51206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observations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36795" y="2185035"/>
            <a:ext cx="19050" cy="2030730"/>
            <a:chOff x="0" y="0"/>
            <a:chExt cx="25400" cy="2707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29200" y="2011680"/>
            <a:ext cx="3840480" cy="1188720"/>
            <a:chOff x="0" y="0"/>
            <a:chExt cx="512064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29200" y="3255264"/>
            <a:ext cx="3840480" cy="548640"/>
            <a:chOff x="0" y="0"/>
            <a:chExt cx="51206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29200" y="3749040"/>
            <a:ext cx="3840480" cy="548640"/>
            <a:chOff x="0" y="0"/>
            <a:chExt cx="51206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51595" y="2185035"/>
            <a:ext cx="19050" cy="2030730"/>
            <a:chOff x="0" y="0"/>
            <a:chExt cx="25400" cy="2707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2011680"/>
            <a:ext cx="3840480" cy="1188720"/>
            <a:chOff x="0" y="0"/>
            <a:chExt cx="51206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0" y="3255264"/>
            <a:ext cx="3840480" cy="548640"/>
            <a:chOff x="0" y="0"/>
            <a:chExt cx="5120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valeurs manquantes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0" y="3749040"/>
            <a:ext cx="3840480" cy="548640"/>
            <a:chOff x="0" y="0"/>
            <a:chExt cx="51206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propre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66395" y="2185035"/>
            <a:ext cx="19050" cy="2030730"/>
            <a:chOff x="0" y="0"/>
            <a:chExt cx="25400" cy="2707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258800" y="2011680"/>
            <a:ext cx="3840480" cy="1188720"/>
            <a:chOff x="0" y="0"/>
            <a:chExt cx="512064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58800" y="3255264"/>
            <a:ext cx="3840480" cy="548640"/>
            <a:chOff x="0" y="0"/>
            <a:chExt cx="51206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cibles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258800" y="3749040"/>
            <a:ext cx="3840480" cy="548640"/>
            <a:chOff x="0" y="0"/>
            <a:chExt cx="51206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risk_score / diagnosed / stage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8047" y="4748527"/>
            <a:ext cx="16471897" cy="12697"/>
            <a:chOff x="0" y="0"/>
            <a:chExt cx="21962529" cy="169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8509" y="0"/>
              <a:ext cx="21945601" cy="16891"/>
            </a:xfrm>
            <a:custGeom>
              <a:avLst/>
              <a:gdLst/>
              <a:ahLst/>
              <a:cxnLst/>
              <a:rect r="r" b="b" t="t" l="l"/>
              <a:pathLst>
                <a:path h="16891" w="21945601">
                  <a:moveTo>
                    <a:pt x="0" y="0"/>
                  </a:moveTo>
                  <a:lnTo>
                    <a:pt x="21945601" y="0"/>
                  </a:lnTo>
                  <a:lnTo>
                    <a:pt x="219456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14400" y="5029200"/>
            <a:ext cx="16459200" cy="640080"/>
            <a:chOff x="0" y="0"/>
            <a:chExt cx="2194560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Catégories des 31 variables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1703" y="5985767"/>
            <a:ext cx="171707" cy="574043"/>
            <a:chOff x="0" y="0"/>
            <a:chExt cx="228943" cy="7653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80160" y="5852160"/>
            <a:ext cx="4754880" cy="822960"/>
            <a:chOff x="0" y="0"/>
            <a:chExt cx="633984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Cliniques / Biométriques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035040" y="5852160"/>
            <a:ext cx="11338560" cy="822960"/>
            <a:chOff x="0" y="0"/>
            <a:chExt cx="1511808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bmi, waist_to_hip_ratio, systolic_bp, diastolic_bp, heart_rate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01703" y="6900167"/>
            <a:ext cx="171707" cy="574043"/>
            <a:chOff x="0" y="0"/>
            <a:chExt cx="228943" cy="7653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0160" y="6766560"/>
            <a:ext cx="4754880" cy="822960"/>
            <a:chOff x="0" y="0"/>
            <a:chExt cx="633984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Biologiques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035040" y="6766560"/>
            <a:ext cx="11338560" cy="822960"/>
            <a:chOff x="0" y="0"/>
            <a:chExt cx="1511808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glucose_fasting, glucose_postprandial, hba1c, insulin_level, cholesterol_total, hdl/ldl, triglycerides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1703" y="7814567"/>
            <a:ext cx="171707" cy="574043"/>
            <a:chOff x="0" y="0"/>
            <a:chExt cx="228943" cy="7653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80160" y="7680960"/>
            <a:ext cx="4754880" cy="822960"/>
            <a:chOff x="0" y="0"/>
            <a:chExt cx="633984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Comportementales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035040" y="7680960"/>
            <a:ext cx="11338560" cy="822960"/>
            <a:chOff x="0" y="0"/>
            <a:chExt cx="1511808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physical_activity, diet_score, sleep_hours, screen_time, alcohol, smoking_status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01703" y="8728967"/>
            <a:ext cx="171707" cy="574043"/>
            <a:chOff x="0" y="0"/>
            <a:chExt cx="228943" cy="76539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80160" y="8595360"/>
            <a:ext cx="4754880" cy="822960"/>
            <a:chOff x="0" y="0"/>
            <a:chExt cx="6339840" cy="10972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Socio-démographiques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035040" y="8595360"/>
            <a:ext cx="11338560" cy="822960"/>
            <a:chOff x="0" y="0"/>
            <a:chExt cx="1511808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age, gender, ethnicity, education_level, income_level, employment_status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23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Statistiques descriptives clés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3152" y="1115568"/>
            <a:ext cx="11850624" cy="8924544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1155680" y="2103120"/>
            <a:ext cx="6217920" cy="731520"/>
            <a:chOff x="0" y="0"/>
            <a:chExt cx="82905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90560" cy="975360"/>
            </a:xfrm>
            <a:custGeom>
              <a:avLst/>
              <a:gdLst/>
              <a:ahLst/>
              <a:cxnLst/>
              <a:rect r="r" b="b" t="t" l="l"/>
              <a:pathLst>
                <a:path h="9753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2905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Points remarquables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55680" y="2834640"/>
            <a:ext cx="6217920" cy="6217920"/>
            <a:chOff x="0" y="0"/>
            <a:chExt cx="8290560" cy="8290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905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290560"/>
                  </a:lnTo>
                  <a:lnTo>
                    <a:pt x="0" y="829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290560" cy="8338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60 % des patients sont diabétiques (diagnosed = 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Âge : 18 – 90 ans (moy. 50,1).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 : 15,0 – 39,2 kg/m² (moy. 25,6).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à jeun : 60 – 172 mg/dL (moy. 111,1).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HbA1c : 4,0 – 9,8 % (moy. 6,5).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stades de diabète représentés.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valeur manquante – dataset propre.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23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Préparation des données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Préparation des données – Pipeline en 6 étapes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1097280" cy="914400"/>
            <a:chOff x="0" y="0"/>
            <a:chExt cx="146304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13887" y="2279647"/>
            <a:ext cx="12697" cy="835657"/>
            <a:chOff x="0" y="0"/>
            <a:chExt cx="16929" cy="1114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3120" y="2231136"/>
            <a:ext cx="4206240" cy="914400"/>
            <a:chOff x="0" y="0"/>
            <a:chExt cx="56083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Vérification qualité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291840"/>
            <a:ext cx="5303520" cy="2011680"/>
            <a:chOff x="0" y="0"/>
            <a:chExt cx="707136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valeur manquante, aucun doublon sur 100 000 lignes.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92240" y="2194560"/>
            <a:ext cx="1097280" cy="914400"/>
            <a:chOff x="0" y="0"/>
            <a:chExt cx="146304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91727" y="2279647"/>
            <a:ext cx="12697" cy="835657"/>
            <a:chOff x="0" y="0"/>
            <a:chExt cx="16929" cy="11142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0960" y="2231136"/>
            <a:ext cx="4206240" cy="914400"/>
            <a:chOff x="0" y="0"/>
            <a:chExt cx="560832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Encodage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92240" y="3291840"/>
            <a:ext cx="5303520" cy="2011680"/>
            <a:chOff x="0" y="0"/>
            <a:chExt cx="707136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OneHotEncoder pour les variables nominales (gender, ethnicity, smoking_status). LabelEncoder uniquement pour la cible ordinale diabetes_stage.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70080" y="2194560"/>
            <a:ext cx="1097280" cy="914400"/>
            <a:chOff x="0" y="0"/>
            <a:chExt cx="14630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69567" y="2279647"/>
            <a:ext cx="12697" cy="835657"/>
            <a:chOff x="0" y="0"/>
            <a:chExt cx="16929" cy="11142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58800" y="2231136"/>
            <a:ext cx="4206240" cy="914400"/>
            <a:chOff x="0" y="0"/>
            <a:chExt cx="56083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Normalisation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70080" y="3291840"/>
            <a:ext cx="5303520" cy="2011680"/>
            <a:chOff x="0" y="0"/>
            <a:chExt cx="7071360" cy="2682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StandardScaler pour clustering, SVM et Naive Bayes ; MinMaxScaler pour la régression linéaire.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669280"/>
            <a:ext cx="1097280" cy="914400"/>
            <a:chOff x="0" y="0"/>
            <a:chExt cx="146304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13887" y="5754367"/>
            <a:ext cx="12697" cy="835657"/>
            <a:chOff x="0" y="0"/>
            <a:chExt cx="16929" cy="11142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03120" y="5705856"/>
            <a:ext cx="4206240" cy="914400"/>
            <a:chOff x="0" y="0"/>
            <a:chExt cx="560832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Réduction dimensionnelle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6766560"/>
            <a:ext cx="5303520" cy="2011680"/>
            <a:chOff x="0" y="0"/>
            <a:chExt cx="7071360" cy="2682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ACP à 2 composantes pour la visualisation. PC1 : risque métabolique ; PC2 : profil lipidique.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492240" y="5669280"/>
            <a:ext cx="1097280" cy="914400"/>
            <a:chOff x="0" y="0"/>
            <a:chExt cx="146304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91727" y="5754367"/>
            <a:ext cx="12697" cy="835657"/>
            <a:chOff x="0" y="0"/>
            <a:chExt cx="16929" cy="11142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80960" y="5705856"/>
            <a:ext cx="4206240" cy="914400"/>
            <a:chOff x="0" y="0"/>
            <a:chExt cx="560832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/ Test split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92240" y="6766560"/>
            <a:ext cx="5303520" cy="2011680"/>
            <a:chOff x="0" y="0"/>
            <a:chExt cx="7071360" cy="2682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80 % entraînement / 20 % test. Stratify=True en classification. random_state = 42.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70080" y="5669280"/>
            <a:ext cx="1097280" cy="914400"/>
            <a:chOff x="0" y="0"/>
            <a:chExt cx="146304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069567" y="5754367"/>
            <a:ext cx="12697" cy="835657"/>
            <a:chOff x="0" y="0"/>
            <a:chExt cx="16929" cy="111420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258800" y="5705856"/>
            <a:ext cx="4206240" cy="914400"/>
            <a:chOff x="0" y="0"/>
            <a:chExt cx="560832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Sélection de features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070080" y="6766560"/>
            <a:ext cx="5303520" cy="2011680"/>
            <a:chOff x="0" y="0"/>
            <a:chExt cx="7071360" cy="2682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RFE retient 5 features pour la régression : age, bmi, glucose_fasting, triglycerides, physical_activity.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23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Modélisation &amp; Benchmarking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1 – Segmentation des patients (K-Means &amp; DBSCAN)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1 : identifier des groupes de patients selon leur profil de risque pour des campagnes de prévention ciblées.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651760"/>
            <a:ext cx="8229600" cy="640080"/>
            <a:chOff x="0" y="0"/>
            <a:chExt cx="109728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K-Means (k = 4) — méthode du coude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370583"/>
            <a:ext cx="939803" cy="1031243"/>
            <a:chOff x="0" y="0"/>
            <a:chExt cx="1253071" cy="1374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3383280"/>
            <a:ext cx="914400" cy="1005840"/>
            <a:chOff x="0" y="0"/>
            <a:chExt cx="121920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11680" y="3346704"/>
            <a:ext cx="6766560" cy="548640"/>
            <a:chOff x="0" y="0"/>
            <a:chExt cx="90220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sain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3840480"/>
            <a:ext cx="6766560" cy="640080"/>
            <a:chOff x="0" y="0"/>
            <a:chExt cx="902208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et BMI normaux, hygiène de vie favorable.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4559303"/>
            <a:ext cx="939803" cy="1031243"/>
            <a:chOff x="0" y="0"/>
            <a:chExt cx="1253071" cy="1374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4572000"/>
            <a:ext cx="914400" cy="1005840"/>
            <a:chOff x="0" y="0"/>
            <a:chExt cx="121920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11680" y="4535424"/>
            <a:ext cx="6766560" cy="548640"/>
            <a:chOff x="0" y="0"/>
            <a:chExt cx="90220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modéré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11680" y="5029200"/>
            <a:ext cx="6766560" cy="640080"/>
            <a:chOff x="0" y="0"/>
            <a:chExt cx="902208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Légère élévation du glucose et du BMI.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748023"/>
            <a:ext cx="939803" cy="1031243"/>
            <a:chOff x="0" y="0"/>
            <a:chExt cx="1253071" cy="13749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760720"/>
            <a:ext cx="914400" cy="1005840"/>
            <a:chOff x="0" y="0"/>
            <a:chExt cx="121920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11680" y="5724144"/>
            <a:ext cx="6766560" cy="548640"/>
            <a:chOff x="0" y="0"/>
            <a:chExt cx="90220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à risque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011680" y="6217920"/>
            <a:ext cx="6766560" cy="640080"/>
            <a:chOff x="0" y="0"/>
            <a:chExt cx="902208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élevé, HbA1c &gt; 7 %, profil métabolique altéré.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1703" y="6936743"/>
            <a:ext cx="939803" cy="1031243"/>
            <a:chOff x="0" y="0"/>
            <a:chExt cx="1253071" cy="1374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6949440"/>
            <a:ext cx="914400" cy="1005840"/>
            <a:chOff x="0" y="0"/>
            <a:chExt cx="121920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11680" y="6912864"/>
            <a:ext cx="6766560" cy="548640"/>
            <a:chOff x="0" y="0"/>
            <a:chExt cx="90220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critique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011680" y="7406640"/>
            <a:ext cx="6766560" cy="640080"/>
            <a:chOff x="0" y="0"/>
            <a:chExt cx="902208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&gt; 180, HbA1c &gt; 8,5 %, comorbidités.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09760" y="2651760"/>
            <a:ext cx="7863840" cy="640080"/>
            <a:chOff x="0" y="0"/>
            <a:chExt cx="1048512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4851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DBSCAN — détection d'outliers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09760" y="3383280"/>
            <a:ext cx="7863840" cy="4389120"/>
            <a:chOff x="0" y="0"/>
            <a:chExt cx="10485120" cy="5852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t="0" r="-21611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485120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classe 96 158 patients comme outliers (96 %) — les paramètres eps/min_samples sont inadaptés à la haute dimensionnalité du dataset.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Cluster 0 : 3 830 patients seulement — un seul cluster dense identifié.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Micro-clusters de 3 à 5 patients : non exploitables statistiquement.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: K-Means (k=4) est retenu pour la segmentation. DBSCAN n'est pas adapté à ce dataset (trop dense, paramètres difficiles à régler en haute dimension).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03407" y="7948927"/>
            <a:ext cx="7876537" cy="1475737"/>
            <a:chOff x="0" y="0"/>
            <a:chExt cx="10502049" cy="19676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8509" y="8509"/>
              <a:ext cx="10485119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p/>
          </p:txBody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502138" cy="1967738"/>
            </a:xfrm>
            <a:custGeom>
              <a:avLst/>
              <a:gdLst/>
              <a:ahLst/>
              <a:cxnLst/>
              <a:rect r="r" b="b" t="t" l="l"/>
              <a:pathLst>
                <a:path h="1967738" w="10502138">
                  <a:moveTo>
                    <a:pt x="8509" y="0"/>
                  </a:moveTo>
                  <a:lnTo>
                    <a:pt x="10493628" y="0"/>
                  </a:lnTo>
                  <a:cubicBezTo>
                    <a:pt x="10498327" y="0"/>
                    <a:pt x="10502138" y="3810"/>
                    <a:pt x="10502138" y="8509"/>
                  </a:cubicBezTo>
                  <a:lnTo>
                    <a:pt x="10502138" y="1959229"/>
                  </a:lnTo>
                  <a:cubicBezTo>
                    <a:pt x="10502138" y="1963928"/>
                    <a:pt x="10498327" y="1967738"/>
                    <a:pt x="10493628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10493628" y="1950720"/>
                  </a:lnTo>
                  <a:lnTo>
                    <a:pt x="10493628" y="1959229"/>
                  </a:lnTo>
                  <a:lnTo>
                    <a:pt x="10485120" y="1959229"/>
                  </a:lnTo>
                  <a:lnTo>
                    <a:pt x="10485120" y="8509"/>
                  </a:lnTo>
                  <a:lnTo>
                    <a:pt x="10493628" y="8509"/>
                  </a:lnTo>
                  <a:lnTo>
                    <a:pt x="10493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92640" y="8046720"/>
            <a:ext cx="7498080" cy="1280160"/>
            <a:chOff x="0" y="0"/>
            <a:chExt cx="9997440" cy="1706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97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99744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1F293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ACP : PC1 = risque métabolique (HbA1c 0,42 ; Glucose 0,41)  ·  PC2 = profil lipidique (BMI 0,48 ; Waist/Hip 0,46)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23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2 – Régression du score de risque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2 : minimiser les erreurs de prédiction du score de risque afin de ne pas sous-estimer la dangerosité d'un profil patient.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152" y="1901952"/>
            <a:ext cx="10094976" cy="8266176"/>
          </a:xfrm>
          <a:prstGeom prst="rect">
            <a:avLst/>
          </a:prstGeom>
        </p:spPr>
      </p:pic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875520" y="2743200"/>
          <a:ext cx="7442200" cy="3505200"/>
        </p:xfrm>
        <a:graphic>
          <a:graphicData uri="http://schemas.openxmlformats.org/drawingml/2006/table">
            <a:tbl>
              <a:tblPr/>
              <a:tblGrid>
                <a:gridCol w="2711229"/>
                <a:gridCol w="1636687"/>
                <a:gridCol w="1636687"/>
                <a:gridCol w="1457597"/>
              </a:tblGrid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Verdict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0,312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0,9988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Meilleur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1,461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0,9741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Très bon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3,002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0,8908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Rég. Linéaire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6,370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0,5083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Limite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Rég. Polynomiale (d=2)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6,843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0,4327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Faible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23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3 – Classification binaire (diagnosed_diabetes 0/1)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3 : identifier les patients diabétiques. Note : XGBoost, Decision Tree et Random Forest convergent vers le même score (~91.98 %) — le dataset présente un plafond statistique dû à la dominance de HbA1c et glucose. Choix de XGBoost justifié par sa robustesse (NaN, outliers, predict_proba calibré).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152" y="1901952"/>
            <a:ext cx="10094976" cy="8266176"/>
          </a:xfrm>
          <a:prstGeom prst="rect">
            <a:avLst/>
          </a:prstGeom>
        </p:spPr>
      </p:pic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875520" y="2743200"/>
          <a:ext cx="7467600" cy="4445000"/>
        </p:xfrm>
        <a:graphic>
          <a:graphicData uri="http://schemas.openxmlformats.org/drawingml/2006/table">
            <a:tbl>
              <a:tblPr/>
              <a:tblGrid>
                <a:gridCol w="3090214"/>
                <a:gridCol w="2188693"/>
                <a:gridCol w="2188693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91,98 %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0,9432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91,98 %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0,9431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91,97 %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0,9417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 (RBF)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88,41 %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 (Poly)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87,78 %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0,9290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Naive Bayes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85,60 %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0,9209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/ 23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4 – Classification multiclasse (diabetes_stage)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4 : classifier le stade du diabète (No Diabetes, Pre-Diabetes, Type 1, Type 2, Gestational) pour orienter la prise en charge.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8016" y="1700784"/>
            <a:ext cx="10314432" cy="8485632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9692640" y="2560320"/>
            <a:ext cx="7680960" cy="585216"/>
            <a:chOff x="0" y="0"/>
            <a:chExt cx="102412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– Meilleurs hyperparamètres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92640" y="3145536"/>
            <a:ext cx="7680960" cy="1005840"/>
            <a:chOff x="0" y="0"/>
            <a:chExt cx="1024128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41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n_estimators = 200  ·  max_depth = 20  ·  max_features = sqrt  ·  min_samples_split = 2  ·  min_samples_leaf =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79943" y="4284983"/>
            <a:ext cx="7706363" cy="1122683"/>
            <a:chOff x="0" y="0"/>
            <a:chExt cx="10275151" cy="1496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75520" y="4334256"/>
            <a:ext cx="4572000" cy="1005840"/>
            <a:chOff x="0" y="0"/>
            <a:chExt cx="609600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960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 finale : 91,65 %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47520" y="4334256"/>
            <a:ext cx="2743200" cy="1005840"/>
            <a:chOff x="0" y="0"/>
            <a:chExt cx="36576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657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CV : 91,78 %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2640" y="5577840"/>
            <a:ext cx="7680960" cy="512064"/>
            <a:chOff x="0" y="0"/>
            <a:chExt cx="102412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par classe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9692640" y="6126480"/>
          <a:ext cx="7620000" cy="2286000"/>
        </p:xfrm>
        <a:graphic>
          <a:graphicData uri="http://schemas.openxmlformats.org/drawingml/2006/table">
            <a:tbl>
              <a:tblPr/>
              <a:tblGrid>
                <a:gridCol w="2710770"/>
                <a:gridCol w="1636410"/>
                <a:gridCol w="1636410"/>
                <a:gridCol w="1636410"/>
              </a:tblGrid>
              <a:tr h="381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Préc.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Diabetes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Pre-Diabetes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1 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Gestational 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pSp>
        <p:nvGrpSpPr>
          <p:cNvPr name="Group 30" id="30"/>
          <p:cNvGrpSpPr/>
          <p:nvPr/>
        </p:nvGrpSpPr>
        <p:grpSpPr>
          <a:xfrm rot="0">
            <a:off x="9692640" y="8686800"/>
            <a:ext cx="7680960" cy="548640"/>
            <a:chOff x="0" y="0"/>
            <a:chExt cx="102412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241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ATTENTION : classes rares Type 1 (39 patients) et Gestational (82 patients) non détectées par le modèle (F1 = 0). L'accuracy de 91.65 % est gonflée par les classes majoritaires. Correctif recommandé : class_weight='balanced' ou exclusion de ces classes du périmètre clinique.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/ 23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Synthèse du benchmarking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2377440"/>
          <a:ext cx="16433800" cy="5461000"/>
        </p:xfrm>
        <a:graphic>
          <a:graphicData uri="http://schemas.openxmlformats.org/drawingml/2006/table">
            <a:tbl>
              <a:tblPr/>
              <a:tblGrid>
                <a:gridCol w="3649159"/>
                <a:gridCol w="3105560"/>
                <a:gridCol w="2924361"/>
                <a:gridCol w="2743161"/>
                <a:gridCol w="4011559"/>
              </a:tblGrid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Tâche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Meilleur 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Métrique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Valeur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Interprétation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Clustering (DSO 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K-Means (k=4)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Segments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Profils exploitables pour la prévention ciblée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Régression (DSO 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0,9988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Score de risque prédit avec très haute précision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Classification binaire (DSO 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 / 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91,98 % / 0,9432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Détection fiable des patients diabétiques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Classification multiclasse (DSO 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91,65 %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Stade du diabète classifié avec haute fiabilité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01703" y="8308343"/>
            <a:ext cx="16484603" cy="1031243"/>
            <a:chOff x="0" y="0"/>
            <a:chExt cx="21979471" cy="1374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9455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358011"/>
                  </a:lnTo>
                  <a:cubicBezTo>
                    <a:pt x="21979382" y="1367409"/>
                    <a:pt x="21971763" y="1374902"/>
                    <a:pt x="219624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1962490" y="1341120"/>
                  </a:lnTo>
                  <a:lnTo>
                    <a:pt x="21962490" y="1358011"/>
                  </a:lnTo>
                  <a:lnTo>
                    <a:pt x="21945600" y="13580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 domine la régression et la classification binaire — Random Forest est le meilleur en multiclasse — K-Means structure la prévention.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 / 23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Déploiement &amp; Démonstration technique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de l'application déployée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68880" y="2286000"/>
            <a:ext cx="914400" cy="914400"/>
            <a:chOff x="0" y="0"/>
            <a:chExt cx="1219200" cy="1219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3291840"/>
            <a:ext cx="4023360" cy="731520"/>
            <a:chOff x="0" y="0"/>
            <a:chExt cx="53644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58390" y="4095750"/>
            <a:ext cx="1135380" cy="38100"/>
            <a:chOff x="0" y="0"/>
            <a:chExt cx="151384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4389120"/>
            <a:ext cx="3657600" cy="4023360"/>
            <a:chOff x="0" y="0"/>
            <a:chExt cx="4876800" cy="536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 web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Formulaire patient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résultats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Visualisations graphiques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3680" y="2286000"/>
            <a:ext cx="914400" cy="914400"/>
            <a:chOff x="0" y="0"/>
            <a:chExt cx="1219200" cy="1219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29200" y="3291840"/>
            <a:ext cx="4023360" cy="731520"/>
            <a:chOff x="0" y="0"/>
            <a:chExt cx="53644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API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3190" y="4095750"/>
            <a:ext cx="1135380" cy="38100"/>
            <a:chOff x="0" y="0"/>
            <a:chExt cx="151384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12080" y="4389120"/>
            <a:ext cx="3657600" cy="4023360"/>
            <a:chOff x="0" y="0"/>
            <a:chExt cx="4876800" cy="536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REST (Flask / FastAPI)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Routes de prédiction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des données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 des requêtes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98480" y="2286000"/>
            <a:ext cx="914400" cy="914400"/>
            <a:chOff x="0" y="0"/>
            <a:chExt cx="1219200" cy="12192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3291840"/>
            <a:ext cx="4023360" cy="731520"/>
            <a:chOff x="0" y="0"/>
            <a:chExt cx="536448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Modèles ML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87990" y="4095750"/>
            <a:ext cx="1135380" cy="38100"/>
            <a:chOff x="0" y="0"/>
            <a:chExt cx="1513840" cy="5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4389120"/>
            <a:ext cx="3657600" cy="4023360"/>
            <a:chOff x="0" y="0"/>
            <a:chExt cx="4876800" cy="536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(régression)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(classification)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(multiclasse)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(clustering)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813280" y="2286000"/>
            <a:ext cx="914400" cy="914400"/>
            <a:chOff x="0" y="0"/>
            <a:chExt cx="1219200" cy="12192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258800" y="3291840"/>
            <a:ext cx="4023360" cy="731520"/>
            <a:chOff x="0" y="0"/>
            <a:chExt cx="536448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&amp; assets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702790" y="4095750"/>
            <a:ext cx="1135380" cy="38100"/>
            <a:chOff x="0" y="0"/>
            <a:chExt cx="1513840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441680" y="4389120"/>
            <a:ext cx="3657600" cy="4023360"/>
            <a:chOff x="0" y="0"/>
            <a:chExt cx="4876800" cy="536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100 000 patients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 variables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Modèles entraînés (.pkl)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reproductible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8047" y="8314687"/>
            <a:ext cx="16471897" cy="1018537"/>
            <a:chOff x="0" y="0"/>
            <a:chExt cx="21962529" cy="135804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2194560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1">
                  <a:moveTo>
                    <a:pt x="0" y="0"/>
                  </a:moveTo>
                  <a:lnTo>
                    <a:pt x="21945601" y="0"/>
                  </a:lnTo>
                  <a:lnTo>
                    <a:pt x="2194560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62618" cy="1358138"/>
            </a:xfrm>
            <a:custGeom>
              <a:avLst/>
              <a:gdLst/>
              <a:ahLst/>
              <a:cxnLst/>
              <a:rect r="r" b="b" t="t" l="l"/>
              <a:pathLst>
                <a:path h="1358138" w="21962618">
                  <a:moveTo>
                    <a:pt x="8509" y="0"/>
                  </a:moveTo>
                  <a:lnTo>
                    <a:pt x="21954110" y="0"/>
                  </a:lnTo>
                  <a:cubicBezTo>
                    <a:pt x="21958808" y="0"/>
                    <a:pt x="21962618" y="3810"/>
                    <a:pt x="21962618" y="8509"/>
                  </a:cubicBezTo>
                  <a:lnTo>
                    <a:pt x="21962618" y="1349629"/>
                  </a:lnTo>
                  <a:cubicBezTo>
                    <a:pt x="21962618" y="1354328"/>
                    <a:pt x="21958808" y="1358138"/>
                    <a:pt x="21954110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21954110" y="1341120"/>
                  </a:lnTo>
                  <a:lnTo>
                    <a:pt x="21954110" y="1349629"/>
                  </a:lnTo>
                  <a:lnTo>
                    <a:pt x="21945600" y="1349629"/>
                  </a:lnTo>
                  <a:lnTo>
                    <a:pt x="21945600" y="8509"/>
                  </a:lnTo>
                  <a:lnTo>
                    <a:pt x="21954110" y="8509"/>
                  </a:lnTo>
                  <a:lnTo>
                    <a:pt x="219541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0F2A4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Démonstration en direct : saisie d'un profil patient → prédiction du risque, du diagnostic et du stade en temps réel.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/ 23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Perspectives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– Résultats clés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286000"/>
            <a:ext cx="731520" cy="731520"/>
            <a:chOff x="0" y="0"/>
            <a:chExt cx="975360" cy="97536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20240" y="2231136"/>
            <a:ext cx="7132320" cy="822960"/>
            <a:chOff x="0" y="0"/>
            <a:chExt cx="950976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Prévention ciblée (DSO 1)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200400"/>
            <a:ext cx="8138160" cy="2011680"/>
            <a:chOff x="0" y="0"/>
            <a:chExt cx="10850880" cy="2682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identifie 4 profils de patients exploitables pour des programmes de dépistage proactifs ciblant les profils à risque élevé.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35440" y="2286000"/>
            <a:ext cx="731520" cy="731520"/>
            <a:chOff x="0" y="0"/>
            <a:chExt cx="975360" cy="97536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41280" y="2231136"/>
            <a:ext cx="7132320" cy="822960"/>
            <a:chOff x="0" y="0"/>
            <a:chExt cx="95097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 de risque (DSO 2)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35440" y="3200400"/>
            <a:ext cx="8138160" cy="2011680"/>
            <a:chOff x="0" y="0"/>
            <a:chExt cx="1085088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prédit diabetes_risk_score avec un R² de 0,9988. Déploiement recommandé pour le triage automatique des nouveaux patients.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669280"/>
            <a:ext cx="731520" cy="731520"/>
            <a:chOff x="0" y="0"/>
            <a:chExt cx="975360" cy="97536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20240" y="5614416"/>
            <a:ext cx="7132320" cy="822960"/>
            <a:chOff x="0" y="0"/>
            <a:chExt cx="95097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Détection binaire (DSO 3)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6583680"/>
            <a:ext cx="8138160" cy="2011680"/>
            <a:chOff x="0" y="0"/>
            <a:chExt cx="10850880" cy="2682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atteint 91,98 % d'accuracy et un ROC-AUC de 0,9432. Fiabilité clinique validée pour la détection des patients diabétiques.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35440" y="5669280"/>
            <a:ext cx="731520" cy="731520"/>
            <a:chOff x="0" y="0"/>
            <a:chExt cx="975360" cy="9753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41280" y="5614416"/>
            <a:ext cx="7132320" cy="822960"/>
            <a:chOff x="0" y="0"/>
            <a:chExt cx="950976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du stade (DSO 4)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35440" y="6583680"/>
            <a:ext cx="8138160" cy="2011680"/>
            <a:chOff x="0" y="0"/>
            <a:chExt cx="10850880" cy="2682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classe les 5 stades avec 91,65 % d'accuracy. Les variables glucose_fasting, hba1c et diabetes_risk_score sont les plus discriminantes.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 / 23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Perspectives &amp; Améliorations futures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2432304"/>
            <a:ext cx="822960" cy="822960"/>
            <a:chOff x="0" y="0"/>
            <a:chExt cx="1097280" cy="109728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2286000" y="2286000"/>
            <a:ext cx="14630400" cy="548640"/>
            <a:chOff x="0" y="0"/>
            <a:chExt cx="19507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longitudinales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86000" y="2834640"/>
            <a:ext cx="14996160" cy="822960"/>
            <a:chOff x="0" y="0"/>
            <a:chExt cx="199948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Intégrer un suivi temporel des patients pour prédire les transitions entre les stades du diabète.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858768"/>
            <a:ext cx="822960" cy="822960"/>
            <a:chOff x="0" y="0"/>
            <a:chExt cx="1097280" cy="109728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6000" y="3712464"/>
            <a:ext cx="14630400" cy="548640"/>
            <a:chOff x="0" y="0"/>
            <a:chExt cx="19507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0" y="4261104"/>
            <a:ext cx="14996160" cy="822960"/>
            <a:chOff x="0" y="0"/>
            <a:chExt cx="199948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Explorer les réseaux de neurones (MLP, LSTM) pour capturer des patterns plus complexes dans les données cliniques.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5285232"/>
            <a:ext cx="822960" cy="822960"/>
            <a:chOff x="0" y="0"/>
            <a:chExt cx="1097280" cy="109728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86000" y="5138928"/>
            <a:ext cx="14630400" cy="548640"/>
            <a:chOff x="0" y="0"/>
            <a:chExt cx="195072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déséquilibrées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86000" y="5687568"/>
            <a:ext cx="14996160" cy="822960"/>
            <a:chOff x="0" y="0"/>
            <a:chExt cx="199948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Pour DSO4 uniquement : appliquer class_weight='balanced' (préférable à SMOTE qui créerait des patients synthétiques médicalement incohérents) pour détecter Type 1 et Gestational. DSO3 n'en a pas besoin (40 K vs 60 K patients déjà équilibrés).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6711696"/>
            <a:ext cx="822960" cy="822960"/>
            <a:chOff x="0" y="0"/>
            <a:chExt cx="1097280" cy="10972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86000" y="6565392"/>
            <a:ext cx="14630400" cy="548640"/>
            <a:chOff x="0" y="0"/>
            <a:chExt cx="195072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Intégration clinique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286000" y="7114032"/>
            <a:ext cx="14996160" cy="822960"/>
            <a:chOff x="0" y="0"/>
            <a:chExt cx="199948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Connecter l'application aux Systèmes d'Information Hospitaliers (SIH) pour un usage en conditions réelles.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8308343"/>
            <a:ext cx="16484603" cy="1031243"/>
            <a:chOff x="0" y="0"/>
            <a:chExt cx="21979471" cy="1374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19455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79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358011"/>
                  </a:lnTo>
                  <a:cubicBezTo>
                    <a:pt x="21979382" y="1367409"/>
                    <a:pt x="21971763" y="1374902"/>
                    <a:pt x="219624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1962490" y="1341120"/>
                  </a:lnTo>
                  <a:lnTo>
                    <a:pt x="21962490" y="1358011"/>
                  </a:lnTo>
                  <a:lnTo>
                    <a:pt x="21945600" y="13580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 projet démontre que le Machine Learning peut transformer le dépistage du diabète, de la prévention à la personnalisation des soins.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 / 23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3040" y="3657600"/>
            <a:ext cx="15727680" cy="1645920"/>
            <a:chOff x="0" y="0"/>
            <a:chExt cx="2097024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097024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Merci pour votre attention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3990" y="5467350"/>
            <a:ext cx="2781300" cy="38100"/>
            <a:chOff x="0" y="0"/>
            <a:chExt cx="37084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" y="5669280"/>
            <a:ext cx="15727680" cy="731520"/>
            <a:chOff x="0" y="0"/>
            <a:chExt cx="2097024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9702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" y="8778240"/>
            <a:ext cx="15727680" cy="548640"/>
            <a:chOff x="0" y="0"/>
            <a:chExt cx="209702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970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CB3C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Module : Machine Learning Appliqué  ·  Responsable : Dr. Jihen Hlel  ·  ESPRIT 2025-2026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DAHJT3CJFcg</dc:identifier>
  <dcterms:modified xsi:type="dcterms:W3CDTF">2011-08-01T06:04:30Z</dcterms:modified>
  <cp:revision>1</cp:revision>
  <dc:title>Validation_Commerciale_MLA_Diabetes_Pro.pptx</dc:title>
</cp:coreProperties>
</file>