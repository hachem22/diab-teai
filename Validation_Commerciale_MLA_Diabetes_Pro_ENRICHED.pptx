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9" r:id="rId57"/>
    <p:sldId id="280" r:id="rId58"/>
    <p:sldId id="281" r:id="rId59"/>
    <p:sldId id="282" r:id="rId60"/>
    <p:sldId id="283" r:id="rId61"/>
    <p:sldId id="284" r:id="rId62"/>
    <p:sldId id="285" r:id="rId63"/>
    <p:sldId id="286" r:id="rId64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Calibri (MS)" charset="1" panose="020F0502020204030204"/>
      <p:regular r:id="rId32"/>
    </p:embeddedFont>
    <p:embeddedFont>
      <p:font typeface="Calibri (MS) Bold" charset="1" panose="020F0702030404030204"/>
      <p:regular r:id="rId33"/>
    </p:embeddedFont>
    <p:embeddedFont>
      <p:font typeface="Calibri (MS) Italics" charset="1" panose="020F05020202040A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notesMaster" Target="notesMasters/notesMaster1.xml"/><Relationship Id="rId30" Type="http://schemas.openxmlformats.org/officeDocument/2006/relationships/theme" Target="theme/theme2.xml"/><Relationship Id="rId31" Type="http://schemas.openxmlformats.org/officeDocument/2006/relationships/notesSlide" Target="notesSlides/notesSlide1.xml"/><Relationship Id="rId32" Type="http://schemas.openxmlformats.org/officeDocument/2006/relationships/font" Target="fonts/font32.fntdata"/><Relationship Id="rId33" Type="http://schemas.openxmlformats.org/officeDocument/2006/relationships/font" Target="fonts/font33.fntdata"/><Relationship Id="rId34" Type="http://schemas.openxmlformats.org/officeDocument/2006/relationships/font" Target="fonts/font34.fntdata"/><Relationship Id="rId35" Type="http://schemas.openxmlformats.org/officeDocument/2006/relationships/notesSlide" Target="notesSlides/notesSlide2.xml"/><Relationship Id="rId36" Type="http://schemas.openxmlformats.org/officeDocument/2006/relationships/notesSlide" Target="notesSlides/notesSlide3.xml"/><Relationship Id="rId37" Type="http://schemas.openxmlformats.org/officeDocument/2006/relationships/notesSlide" Target="notesSlides/notesSlide4.xml"/><Relationship Id="rId38" Type="http://schemas.openxmlformats.org/officeDocument/2006/relationships/notesSlide" Target="notesSlides/notesSlide5.xml"/><Relationship Id="rId39" Type="http://schemas.openxmlformats.org/officeDocument/2006/relationships/notesSlide" Target="notesSlides/notesSlide6.xml"/><Relationship Id="rId40" Type="http://schemas.openxmlformats.org/officeDocument/2006/relationships/notesSlide" Target="notesSlides/notesSlide7.xml"/><Relationship Id="rId41" Type="http://schemas.openxmlformats.org/officeDocument/2006/relationships/notesSlide" Target="notesSlides/notesSlide8.xml"/><Relationship Id="rId42" Type="http://schemas.openxmlformats.org/officeDocument/2006/relationships/notesSlide" Target="notesSlides/notesSlide9.xml"/><Relationship Id="rId43" Type="http://schemas.openxmlformats.org/officeDocument/2006/relationships/notesSlide" Target="notesSlides/notesSlide10.xml"/><Relationship Id="rId44" Type="http://schemas.openxmlformats.org/officeDocument/2006/relationships/notesSlide" Target="notesSlides/notesSlide11.xml"/><Relationship Id="rId45" Type="http://schemas.openxmlformats.org/officeDocument/2006/relationships/notesSlide" Target="notesSlides/notesSlide12.xml"/><Relationship Id="rId46" Type="http://schemas.openxmlformats.org/officeDocument/2006/relationships/notesSlide" Target="notesSlides/notesSlide13.xml"/><Relationship Id="rId47" Type="http://schemas.openxmlformats.org/officeDocument/2006/relationships/notesSlide" Target="notesSlides/notesSlide14.xml"/><Relationship Id="rId48" Type="http://schemas.openxmlformats.org/officeDocument/2006/relationships/notesSlide" Target="notesSlides/notesSlide15.xml"/><Relationship Id="rId49" Type="http://schemas.openxmlformats.org/officeDocument/2006/relationships/notesSlide" Target="notesSlides/notesSlide16.xml"/><Relationship Id="rId50" Type="http://schemas.openxmlformats.org/officeDocument/2006/relationships/notesSlide" Target="notesSlides/notesSlide17.xml"/><Relationship Id="rId51" Type="http://schemas.openxmlformats.org/officeDocument/2006/relationships/notesSlide" Target="notesSlides/notesSlide18.xml"/><Relationship Id="rId52" Type="http://schemas.openxmlformats.org/officeDocument/2006/relationships/notesSlide" Target="notesSlides/notesSlide19.xml"/><Relationship Id="rId53" Type="http://schemas.openxmlformats.org/officeDocument/2006/relationships/notesSlide" Target="notesSlides/notesSlide20.xml"/><Relationship Id="rId54" Type="http://schemas.openxmlformats.org/officeDocument/2006/relationships/notesSlide" Target="notesSlides/notesSlide21.xml"/><Relationship Id="rId55" Type="http://schemas.openxmlformats.org/officeDocument/2006/relationships/notesSlide" Target="notesSlides/notesSlide22.xml"/><Relationship Id="rId56" Type="http://schemas.openxmlformats.org/officeDocument/2006/relationships/notesSlide" Target="notesSlides/notesSlide23.xml"/><Relationship Id="rId57" Type="http://schemas.openxmlformats.org/officeDocument/2006/relationships/slide" Target="slides/slide24.xml"/><Relationship Id="rId58" Type="http://schemas.openxmlformats.org/officeDocument/2006/relationships/slide" Target="slides/slide25.xml"/><Relationship Id="rId59" Type="http://schemas.openxmlformats.org/officeDocument/2006/relationships/slide" Target="slides/slide26.xml"/><Relationship Id="rId60" Type="http://schemas.openxmlformats.org/officeDocument/2006/relationships/slide" Target="slides/slide27.xml"/><Relationship Id="rId61" Type="http://schemas.openxmlformats.org/officeDocument/2006/relationships/slide" Target="slides/slide28.xml"/><Relationship Id="rId62" Type="http://schemas.openxmlformats.org/officeDocument/2006/relationships/slide" Target="slides/slide29.xml"/><Relationship Id="rId63" Type="http://schemas.openxmlformats.org/officeDocument/2006/relationships/slide" Target="slides/slide30.xml"/><Relationship Id="rId64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eg"/><Relationship Id="rId4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eg"/><Relationship Id="rId4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eg"/><Relationship Id="rId4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e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e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e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63040" y="2743200"/>
            <a:ext cx="15727680" cy="731520"/>
            <a:chOff x="0" y="0"/>
            <a:chExt cx="20970240" cy="97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970239" cy="975360"/>
            </a:xfrm>
            <a:custGeom>
              <a:avLst/>
              <a:gdLst/>
              <a:ahLst/>
              <a:cxnLst/>
              <a:rect r="r" b="b" t="t" l="l"/>
              <a:pathLst>
                <a:path h="97536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8" r="0" b="-36892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09702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spc="799">
                  <a:solidFill>
                    <a:srgbClr val="B8E1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Module Machine Learning Appliqué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3040" y="3657600"/>
            <a:ext cx="15727680" cy="2926080"/>
            <a:chOff x="0" y="0"/>
            <a:chExt cx="20970240" cy="3901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970239" cy="3901440"/>
            </a:xfrm>
            <a:custGeom>
              <a:avLst/>
              <a:gdLst/>
              <a:ahLst/>
              <a:cxnLst/>
              <a:rect r="r" b="b" t="t" l="l"/>
              <a:pathLst>
                <a:path h="390144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52400"/>
              <a:ext cx="20970240" cy="4053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Machine Learning Appliqué</a:t>
              </a:r>
            </a:p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 Dépistage du Diabète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43990" y="7021830"/>
            <a:ext cx="2781300" cy="38100"/>
            <a:chOff x="0" y="0"/>
            <a:chExt cx="3708400" cy="50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0"/>
              <a:ext cx="3657600" cy="50800"/>
            </a:xfrm>
            <a:custGeom>
              <a:avLst/>
              <a:gdLst/>
              <a:ahLst/>
              <a:cxnLst/>
              <a:rect r="r" b="b" t="t" l="l"/>
              <a:pathLst>
                <a:path h="508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63040" y="7223760"/>
            <a:ext cx="15727680" cy="731520"/>
            <a:chOff x="0" y="0"/>
            <a:chExt cx="2097024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970239" cy="975360"/>
            </a:xfrm>
            <a:custGeom>
              <a:avLst/>
              <a:gdLst/>
              <a:ahLst/>
              <a:cxnLst/>
              <a:rect r="r" b="b" t="t" l="l"/>
              <a:pathLst>
                <a:path h="97536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8" r="0" b="-36892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09702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B8E1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Validation Commerciale  ·  ESPRIT 2025-2026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3040" y="8778240"/>
            <a:ext cx="15727680" cy="548640"/>
            <a:chOff x="0" y="0"/>
            <a:chExt cx="2097024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970239" cy="731520"/>
            </a:xfrm>
            <a:custGeom>
              <a:avLst/>
              <a:gdLst/>
              <a:ahLst/>
              <a:cxnLst/>
              <a:rect r="r" b="b" t="t" l="l"/>
              <a:pathLst>
                <a:path h="7315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571" r="0" b="-50857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0970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9CB3C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Responsable du module : Dr. Jihen Hlel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1 / 31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 de la présentation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730503" y="2693927"/>
            <a:ext cx="354587" cy="354587"/>
            <a:chOff x="0" y="0"/>
            <a:chExt cx="472783" cy="4727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2694" cy="472696"/>
            </a:xfrm>
            <a:custGeom>
              <a:avLst/>
              <a:gdLst/>
              <a:ahLst/>
              <a:cxnLst/>
              <a:rect r="r" b="b" t="t" l="l"/>
              <a:pathLst>
                <a:path h="4726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455803"/>
                  </a:lnTo>
                  <a:cubicBezTo>
                    <a:pt x="472694" y="465201"/>
                    <a:pt x="465074" y="472694"/>
                    <a:pt x="455803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55803" y="438912"/>
                  </a:lnTo>
                  <a:lnTo>
                    <a:pt x="455803" y="455803"/>
                  </a:lnTo>
                  <a:lnTo>
                    <a:pt x="438912" y="4558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383280" y="2468880"/>
            <a:ext cx="12801600" cy="822960"/>
            <a:chOff x="0" y="0"/>
            <a:chExt cx="1706880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7068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 Introduction &amp; Problématique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730503" y="3516887"/>
            <a:ext cx="354587" cy="354587"/>
            <a:chOff x="0" y="0"/>
            <a:chExt cx="472783" cy="4727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2694" cy="472696"/>
            </a:xfrm>
            <a:custGeom>
              <a:avLst/>
              <a:gdLst/>
              <a:ahLst/>
              <a:cxnLst/>
              <a:rect r="r" b="b" t="t" l="l"/>
              <a:pathLst>
                <a:path h="4726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455803"/>
                  </a:lnTo>
                  <a:cubicBezTo>
                    <a:pt x="472694" y="465201"/>
                    <a:pt x="465074" y="472694"/>
                    <a:pt x="455803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55803" y="438912"/>
                  </a:lnTo>
                  <a:lnTo>
                    <a:pt x="455803" y="455803"/>
                  </a:lnTo>
                  <a:lnTo>
                    <a:pt x="438912" y="4558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383280" y="3291840"/>
            <a:ext cx="12801600" cy="822960"/>
            <a:chOff x="0" y="0"/>
            <a:chExt cx="1706880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7068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 Compréhension métier – BO &amp; DSO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730503" y="4339847"/>
            <a:ext cx="354587" cy="354587"/>
            <a:chOff x="0" y="0"/>
            <a:chExt cx="472783" cy="47278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2694" cy="472696"/>
            </a:xfrm>
            <a:custGeom>
              <a:avLst/>
              <a:gdLst/>
              <a:ahLst/>
              <a:cxnLst/>
              <a:rect r="r" b="b" t="t" l="l"/>
              <a:pathLst>
                <a:path h="4726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455803"/>
                  </a:lnTo>
                  <a:cubicBezTo>
                    <a:pt x="472694" y="465201"/>
                    <a:pt x="465074" y="472694"/>
                    <a:pt x="455803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55803" y="438912"/>
                  </a:lnTo>
                  <a:lnTo>
                    <a:pt x="455803" y="455803"/>
                  </a:lnTo>
                  <a:lnTo>
                    <a:pt x="438912" y="4558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383280" y="4114800"/>
            <a:ext cx="12801600" cy="822960"/>
            <a:chOff x="0" y="0"/>
            <a:chExt cx="17068800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7068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 Compréhension des données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730503" y="5162807"/>
            <a:ext cx="354587" cy="354587"/>
            <a:chOff x="0" y="0"/>
            <a:chExt cx="472783" cy="47278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2694" cy="472696"/>
            </a:xfrm>
            <a:custGeom>
              <a:avLst/>
              <a:gdLst/>
              <a:ahLst/>
              <a:cxnLst/>
              <a:rect r="r" b="b" t="t" l="l"/>
              <a:pathLst>
                <a:path h="4726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455803"/>
                  </a:lnTo>
                  <a:cubicBezTo>
                    <a:pt x="472694" y="465201"/>
                    <a:pt x="465074" y="472694"/>
                    <a:pt x="455803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55803" y="438912"/>
                  </a:lnTo>
                  <a:lnTo>
                    <a:pt x="455803" y="455803"/>
                  </a:lnTo>
                  <a:lnTo>
                    <a:pt x="438912" y="4558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383280" y="4937760"/>
            <a:ext cx="12801600" cy="822960"/>
            <a:chOff x="0" y="0"/>
            <a:chExt cx="1706880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7068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 Préparation des données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730503" y="5985767"/>
            <a:ext cx="354587" cy="354587"/>
            <a:chOff x="0" y="0"/>
            <a:chExt cx="472783" cy="4727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2694" cy="472696"/>
            </a:xfrm>
            <a:custGeom>
              <a:avLst/>
              <a:gdLst/>
              <a:ahLst/>
              <a:cxnLst/>
              <a:rect r="r" b="b" t="t" l="l"/>
              <a:pathLst>
                <a:path h="4726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455803"/>
                  </a:lnTo>
                  <a:cubicBezTo>
                    <a:pt x="472694" y="465201"/>
                    <a:pt x="465074" y="472694"/>
                    <a:pt x="455803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55803" y="438912"/>
                  </a:lnTo>
                  <a:lnTo>
                    <a:pt x="455803" y="455803"/>
                  </a:lnTo>
                  <a:lnTo>
                    <a:pt x="438912" y="4558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383280" y="5760720"/>
            <a:ext cx="12801600" cy="822960"/>
            <a:chOff x="0" y="0"/>
            <a:chExt cx="1706880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17068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5. Modélisation &amp; Benchmarking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730503" y="6808727"/>
            <a:ext cx="354587" cy="354587"/>
            <a:chOff x="0" y="0"/>
            <a:chExt cx="472783" cy="47278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2694" cy="472696"/>
            </a:xfrm>
            <a:custGeom>
              <a:avLst/>
              <a:gdLst/>
              <a:ahLst/>
              <a:cxnLst/>
              <a:rect r="r" b="b" t="t" l="l"/>
              <a:pathLst>
                <a:path h="4726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455803"/>
                  </a:lnTo>
                  <a:cubicBezTo>
                    <a:pt x="472694" y="465201"/>
                    <a:pt x="465074" y="472694"/>
                    <a:pt x="455803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55803" y="438912"/>
                  </a:lnTo>
                  <a:lnTo>
                    <a:pt x="455803" y="455803"/>
                  </a:lnTo>
                  <a:lnTo>
                    <a:pt x="438912" y="4558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3383280" y="6583680"/>
            <a:ext cx="12801600" cy="822960"/>
            <a:chOff x="0" y="0"/>
            <a:chExt cx="1706880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17068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6. Déploiement &amp; Démonstration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730503" y="7631687"/>
            <a:ext cx="354587" cy="354587"/>
            <a:chOff x="0" y="0"/>
            <a:chExt cx="472783" cy="47278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2694" cy="472696"/>
            </a:xfrm>
            <a:custGeom>
              <a:avLst/>
              <a:gdLst/>
              <a:ahLst/>
              <a:cxnLst/>
              <a:rect r="r" b="b" t="t" l="l"/>
              <a:pathLst>
                <a:path h="4726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455803"/>
                  </a:lnTo>
                  <a:cubicBezTo>
                    <a:pt x="472694" y="465201"/>
                    <a:pt x="465074" y="472694"/>
                    <a:pt x="455803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55803" y="438912"/>
                  </a:lnTo>
                  <a:lnTo>
                    <a:pt x="455803" y="455803"/>
                  </a:lnTo>
                  <a:lnTo>
                    <a:pt x="438912" y="4558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3383280" y="7406640"/>
            <a:ext cx="12801600" cy="822960"/>
            <a:chOff x="0" y="0"/>
            <a:chExt cx="17068800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17068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7. Conclusion &amp; Perspectives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/ 23</a:t>
              </a: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2 / 31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108960"/>
            <a:ext cx="2926080" cy="1828800"/>
            <a:chOff x="0" y="0"/>
            <a:chExt cx="390144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14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901440" cy="2771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0"/>
                </a:lnSpc>
              </a:pPr>
              <a:r>
                <a:rPr lang="en-US" sz="1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21430" y="3364230"/>
            <a:ext cx="38100" cy="1318260"/>
            <a:chOff x="0" y="0"/>
            <a:chExt cx="50800" cy="1757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25400"/>
              <a:ext cx="50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0800">
                  <a:moveTo>
                    <a:pt x="50800" y="0"/>
                  </a:moveTo>
                  <a:lnTo>
                    <a:pt x="5080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206240" y="3291840"/>
            <a:ext cx="13167360" cy="1645920"/>
            <a:chOff x="0" y="0"/>
            <a:chExt cx="1755648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5564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755648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 &amp; Problématique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3 / 31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 – Contexte &amp; Motivation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103120"/>
            <a:ext cx="8229600" cy="731520"/>
            <a:chOff x="0" y="0"/>
            <a:chExt cx="10972800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9728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Contexte clinique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834640"/>
            <a:ext cx="8229600" cy="4572000"/>
            <a:chOff x="0" y="0"/>
            <a:chExt cx="10972800" cy="609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096000"/>
                  </a:lnTo>
                  <a:lnTo>
                    <a:pt x="0" y="609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972800" cy="6143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 diabète touche plus de 537 millions d'adultes dans le monde (IDF, 2021). Maladie chronique souvent diagnostiquée tardivement, elle représente un coût de santé estimé à 966 milliards USD par an. Une détection précoce permet de réduire les complications de l'ordre de 50 %.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09760" y="2103120"/>
            <a:ext cx="7863840" cy="731520"/>
            <a:chOff x="0" y="0"/>
            <a:chExt cx="1048512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85120" cy="975360"/>
            </a:xfrm>
            <a:custGeom>
              <a:avLst/>
              <a:gdLst/>
              <a:ahLst/>
              <a:cxnLst/>
              <a:rect r="r" b="b" t="t" l="l"/>
              <a:pathLst>
                <a:path h="9753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7740" r="0" b="-26774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04851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Notre approche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09760" y="2834640"/>
            <a:ext cx="7863840" cy="5120640"/>
            <a:chOff x="0" y="0"/>
            <a:chExt cx="10485120" cy="6827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85120" cy="6827520"/>
            </a:xfrm>
            <a:custGeom>
              <a:avLst/>
              <a:gdLst/>
              <a:ahLst/>
              <a:cxnLst/>
              <a:rect r="r" b="b" t="t" l="l"/>
              <a:pathLst>
                <a:path h="68275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827520"/>
                  </a:lnTo>
                  <a:lnTo>
                    <a:pt x="0" y="6827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546" t="0" r="-33546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0485120" cy="6875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03250" indent="-30162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 : 100 000 patients, 31 variables.</a:t>
              </a:r>
            </a:p>
            <a:p>
              <a:pPr algn="l" marL="603250" indent="-30162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objectifs ML : clustering, régression, classification binaire et multiclasse.</a:t>
              </a:r>
            </a:p>
            <a:p>
              <a:pPr algn="l" marL="603250" indent="-30162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Modèles comparés : XGBoost, Random Forest, Decision Tree, SVM, Naive Bayes, K-Means, DBSCAN.</a:t>
              </a:r>
            </a:p>
            <a:p>
              <a:pPr algn="l" marL="603250" indent="-30162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Finalité : aide à la décision clinique et prévention ciblée.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08047" y="7948927"/>
            <a:ext cx="5316217" cy="1384297"/>
            <a:chOff x="0" y="0"/>
            <a:chExt cx="7088289" cy="18457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8509" y="8509"/>
              <a:ext cx="70713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88378" cy="1845818"/>
            </a:xfrm>
            <a:custGeom>
              <a:avLst/>
              <a:gdLst/>
              <a:ahLst/>
              <a:cxnLst/>
              <a:rect r="r" b="b" t="t" l="l"/>
              <a:pathLst>
                <a:path h="184581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1837309"/>
                  </a:lnTo>
                  <a:cubicBezTo>
                    <a:pt x="7088378" y="1842008"/>
                    <a:pt x="7084568" y="1845818"/>
                    <a:pt x="707986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7079869" y="1828800"/>
                  </a:lnTo>
                  <a:lnTo>
                    <a:pt x="7079869" y="1837309"/>
                  </a:lnTo>
                  <a:lnTo>
                    <a:pt x="7071360" y="183730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97280" y="8046720"/>
            <a:ext cx="2377440" cy="1188720"/>
            <a:chOff x="0" y="0"/>
            <a:chExt cx="3169920" cy="1584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699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316992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537 M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566160" y="8046720"/>
            <a:ext cx="2560320" cy="1188720"/>
            <a:chOff x="0" y="0"/>
            <a:chExt cx="3413760" cy="15849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137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569" t="0" r="-9569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41376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patients diabétiques (monde)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485887" y="7948927"/>
            <a:ext cx="5316217" cy="1384297"/>
            <a:chOff x="0" y="0"/>
            <a:chExt cx="7088289" cy="184572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8509" y="8509"/>
              <a:ext cx="70713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88378" cy="1845818"/>
            </a:xfrm>
            <a:custGeom>
              <a:avLst/>
              <a:gdLst/>
              <a:ahLst/>
              <a:cxnLst/>
              <a:rect r="r" b="b" t="t" l="l"/>
              <a:pathLst>
                <a:path h="184581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1837309"/>
                  </a:lnTo>
                  <a:cubicBezTo>
                    <a:pt x="7088378" y="1842008"/>
                    <a:pt x="7084568" y="1845818"/>
                    <a:pt x="707986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7079869" y="1828800"/>
                  </a:lnTo>
                  <a:lnTo>
                    <a:pt x="7079869" y="1837309"/>
                  </a:lnTo>
                  <a:lnTo>
                    <a:pt x="7071360" y="183730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675120" y="8046720"/>
            <a:ext cx="2377440" cy="1188720"/>
            <a:chOff x="0" y="0"/>
            <a:chExt cx="3169920" cy="15849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699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76200"/>
              <a:ext cx="316992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966 Md $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44000" y="8046720"/>
            <a:ext cx="2560320" cy="1188720"/>
            <a:chOff x="0" y="0"/>
            <a:chExt cx="3413760" cy="15849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4137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569" t="0" r="-9569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341376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coût annuel mondial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063727" y="7948927"/>
            <a:ext cx="5316217" cy="1384297"/>
            <a:chOff x="0" y="0"/>
            <a:chExt cx="7088289" cy="184572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8509" y="8509"/>
              <a:ext cx="70713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088378" cy="1845818"/>
            </a:xfrm>
            <a:custGeom>
              <a:avLst/>
              <a:gdLst/>
              <a:ahLst/>
              <a:cxnLst/>
              <a:rect r="r" b="b" t="t" l="l"/>
              <a:pathLst>
                <a:path h="184581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1837309"/>
                  </a:lnTo>
                  <a:cubicBezTo>
                    <a:pt x="7088378" y="1842008"/>
                    <a:pt x="7084568" y="1845818"/>
                    <a:pt x="707986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7079869" y="1828800"/>
                  </a:lnTo>
                  <a:lnTo>
                    <a:pt x="7079869" y="1837309"/>
                  </a:lnTo>
                  <a:lnTo>
                    <a:pt x="7071360" y="183730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252960" y="8046720"/>
            <a:ext cx="2377440" cy="1188720"/>
            <a:chOff x="0" y="0"/>
            <a:chExt cx="3169920" cy="15849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1699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76200"/>
              <a:ext cx="316992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−50 %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721840" y="8046720"/>
            <a:ext cx="2560320" cy="1188720"/>
            <a:chOff x="0" y="0"/>
            <a:chExt cx="3413760" cy="15849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4137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569" t="0" r="-9569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341376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complications si détection précoce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/ 23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4 / 31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108960"/>
            <a:ext cx="2926080" cy="1828800"/>
            <a:chOff x="0" y="0"/>
            <a:chExt cx="390144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14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901440" cy="2771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0"/>
                </a:lnSpc>
              </a:pPr>
              <a:r>
                <a:rPr lang="en-US" sz="1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21430" y="3364230"/>
            <a:ext cx="38100" cy="1318260"/>
            <a:chOff x="0" y="0"/>
            <a:chExt cx="50800" cy="1757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25400"/>
              <a:ext cx="50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0800">
                  <a:moveTo>
                    <a:pt x="50800" y="0"/>
                  </a:moveTo>
                  <a:lnTo>
                    <a:pt x="5080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206240" y="3291840"/>
            <a:ext cx="13167360" cy="1645920"/>
            <a:chOff x="0" y="0"/>
            <a:chExt cx="1755648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5564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755648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Compréhension métier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206240" y="4937760"/>
            <a:ext cx="13167360" cy="914400"/>
            <a:chOff x="0" y="0"/>
            <a:chExt cx="1755648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556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584" r="0" b="-23058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75564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B8E1D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Business Objectives (BO) &amp; Data Science Objectives (DSO)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5 / 31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Compréhension métier – BO &amp; DSO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1865376"/>
            <a:ext cx="16459200" cy="548640"/>
            <a:chOff x="0" y="0"/>
            <a:chExt cx="219456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BO = Business Objective  ·  DSO = Data Science Objective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2639063"/>
            <a:ext cx="16484603" cy="1543307"/>
            <a:chOff x="0" y="0"/>
            <a:chExt cx="21979471" cy="20577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21945599" cy="2023872"/>
            </a:xfrm>
            <a:custGeom>
              <a:avLst/>
              <a:gdLst/>
              <a:ahLst/>
              <a:cxnLst/>
              <a:rect r="r" b="b" t="t" l="l"/>
              <a:pathLst>
                <a:path h="2023872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79382" cy="2057654"/>
            </a:xfrm>
            <a:custGeom>
              <a:avLst/>
              <a:gdLst/>
              <a:ahLst/>
              <a:cxnLst/>
              <a:rect r="r" b="b" t="t" l="l"/>
              <a:pathLst>
                <a:path h="2057654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2040763"/>
                  </a:lnTo>
                  <a:cubicBezTo>
                    <a:pt x="21979382" y="2050161"/>
                    <a:pt x="21971763" y="2057654"/>
                    <a:pt x="21962490" y="2057654"/>
                  </a:cubicBezTo>
                  <a:lnTo>
                    <a:pt x="16891" y="2057654"/>
                  </a:lnTo>
                  <a:cubicBezTo>
                    <a:pt x="7493" y="2057654"/>
                    <a:pt x="0" y="2050034"/>
                    <a:pt x="0" y="20407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40763"/>
                  </a:lnTo>
                  <a:lnTo>
                    <a:pt x="16891" y="2040763"/>
                  </a:lnTo>
                  <a:lnTo>
                    <a:pt x="16891" y="2023872"/>
                  </a:lnTo>
                  <a:lnTo>
                    <a:pt x="21962490" y="2023872"/>
                  </a:lnTo>
                  <a:lnTo>
                    <a:pt x="21962490" y="2040763"/>
                  </a:lnTo>
                  <a:lnTo>
                    <a:pt x="21945600" y="204076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F7F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97280" y="2834640"/>
            <a:ext cx="1463040" cy="640080"/>
            <a:chOff x="0" y="0"/>
            <a:chExt cx="1950720" cy="853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0720" cy="853440"/>
            </a:xfrm>
            <a:custGeom>
              <a:avLst/>
              <a:gdLst/>
              <a:ahLst/>
              <a:cxnLst/>
              <a:rect r="r" b="b" t="t" l="l"/>
              <a:pathLst>
                <a:path h="85344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507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DSO 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3346704"/>
            <a:ext cx="3383280" cy="731520"/>
            <a:chOff x="0" y="0"/>
            <a:chExt cx="4511040" cy="975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11040" cy="975360"/>
            </a:xfrm>
            <a:custGeom>
              <a:avLst/>
              <a:gdLst/>
              <a:ahLst/>
              <a:cxnLst/>
              <a:rect r="r" b="b" t="t" l="l"/>
              <a:pathLst>
                <a:path h="9753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18" r="0" b="-4011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5110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Segmentation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663440" y="2798064"/>
            <a:ext cx="8046720" cy="1335024"/>
            <a:chOff x="0" y="0"/>
            <a:chExt cx="10728960" cy="17800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28960" cy="1780032"/>
            </a:xfrm>
            <a:custGeom>
              <a:avLst/>
              <a:gdLst/>
              <a:ahLst/>
              <a:cxnLst/>
              <a:rect r="r" b="b" t="t" l="l"/>
              <a:pathLst>
                <a:path h="178003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780032"/>
                  </a:lnTo>
                  <a:lnTo>
                    <a:pt x="0" y="1780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444" r="0" b="-6744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0728960" cy="18276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Identifier des groupes de patients selon leur profil de risque pour des campagnes de prévention ciblées.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801600" y="2798064"/>
            <a:ext cx="4572000" cy="1335024"/>
            <a:chOff x="0" y="0"/>
            <a:chExt cx="6096000" cy="17800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96000" cy="1780032"/>
            </a:xfrm>
            <a:custGeom>
              <a:avLst/>
              <a:gdLst/>
              <a:ahLst/>
              <a:cxnLst/>
              <a:rect r="r" b="b" t="t" l="l"/>
              <a:pathLst>
                <a:path h="178003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780032"/>
                  </a:lnTo>
                  <a:lnTo>
                    <a:pt x="0" y="1780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29" r="0" b="-1672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096000" cy="18181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K-Means (k=4), DBSCAN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97280" y="4443984"/>
            <a:ext cx="1463040" cy="640080"/>
            <a:chOff x="0" y="0"/>
            <a:chExt cx="1950720" cy="8534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50720" cy="853440"/>
            </a:xfrm>
            <a:custGeom>
              <a:avLst/>
              <a:gdLst/>
              <a:ahLst/>
              <a:cxnLst/>
              <a:rect r="r" b="b" t="t" l="l"/>
              <a:pathLst>
                <a:path h="85344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9507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DSO 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97280" y="4956048"/>
            <a:ext cx="3383280" cy="731520"/>
            <a:chOff x="0" y="0"/>
            <a:chExt cx="4511040" cy="9753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11040" cy="975360"/>
            </a:xfrm>
            <a:custGeom>
              <a:avLst/>
              <a:gdLst/>
              <a:ahLst/>
              <a:cxnLst/>
              <a:rect r="r" b="b" t="t" l="l"/>
              <a:pathLst>
                <a:path h="9753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18" r="0" b="-4011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45110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Régression du score de risque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663440" y="4407408"/>
            <a:ext cx="8046720" cy="1335024"/>
            <a:chOff x="0" y="0"/>
            <a:chExt cx="10728960" cy="17800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728960" cy="1780032"/>
            </a:xfrm>
            <a:custGeom>
              <a:avLst/>
              <a:gdLst/>
              <a:ahLst/>
              <a:cxnLst/>
              <a:rect r="r" b="b" t="t" l="l"/>
              <a:pathLst>
                <a:path h="178003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780032"/>
                  </a:lnTo>
                  <a:lnTo>
                    <a:pt x="0" y="1780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444" r="0" b="-6744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0728960" cy="18276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Minimiser les erreurs de prédiction du score de risque afin de ne pas sous-estimer la dangerosité d'un profil.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801600" y="4407408"/>
            <a:ext cx="4572000" cy="1335024"/>
            <a:chOff x="0" y="0"/>
            <a:chExt cx="6096000" cy="178003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96000" cy="1780032"/>
            </a:xfrm>
            <a:custGeom>
              <a:avLst/>
              <a:gdLst/>
              <a:ahLst/>
              <a:cxnLst/>
              <a:rect r="r" b="b" t="t" l="l"/>
              <a:pathLst>
                <a:path h="178003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780032"/>
                  </a:lnTo>
                  <a:lnTo>
                    <a:pt x="0" y="1780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29" r="0" b="-1672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096000" cy="18181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XGBoost, Decision Tree, Random Forest, Reg. Linéaire &amp; Polynomiale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01703" y="5857751"/>
            <a:ext cx="16484603" cy="1543307"/>
            <a:chOff x="0" y="0"/>
            <a:chExt cx="21979471" cy="205774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21945599" cy="2023872"/>
            </a:xfrm>
            <a:custGeom>
              <a:avLst/>
              <a:gdLst/>
              <a:ahLst/>
              <a:cxnLst/>
              <a:rect r="r" b="b" t="t" l="l"/>
              <a:pathLst>
                <a:path h="2023872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79382" cy="2057654"/>
            </a:xfrm>
            <a:custGeom>
              <a:avLst/>
              <a:gdLst/>
              <a:ahLst/>
              <a:cxnLst/>
              <a:rect r="r" b="b" t="t" l="l"/>
              <a:pathLst>
                <a:path h="2057654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2040763"/>
                  </a:lnTo>
                  <a:cubicBezTo>
                    <a:pt x="21979382" y="2050161"/>
                    <a:pt x="21971763" y="2057654"/>
                    <a:pt x="21962490" y="2057654"/>
                  </a:cubicBezTo>
                  <a:lnTo>
                    <a:pt x="16891" y="2057654"/>
                  </a:lnTo>
                  <a:cubicBezTo>
                    <a:pt x="7493" y="2057654"/>
                    <a:pt x="0" y="2050034"/>
                    <a:pt x="0" y="20407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40763"/>
                  </a:lnTo>
                  <a:lnTo>
                    <a:pt x="16891" y="2040763"/>
                  </a:lnTo>
                  <a:lnTo>
                    <a:pt x="16891" y="2023872"/>
                  </a:lnTo>
                  <a:lnTo>
                    <a:pt x="21962490" y="2023872"/>
                  </a:lnTo>
                  <a:lnTo>
                    <a:pt x="21962490" y="2040763"/>
                  </a:lnTo>
                  <a:lnTo>
                    <a:pt x="21945600" y="204076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F7F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97280" y="6053328"/>
            <a:ext cx="1463040" cy="640080"/>
            <a:chOff x="0" y="0"/>
            <a:chExt cx="1950720" cy="8534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50720" cy="853440"/>
            </a:xfrm>
            <a:custGeom>
              <a:avLst/>
              <a:gdLst/>
              <a:ahLst/>
              <a:cxnLst/>
              <a:rect r="r" b="b" t="t" l="l"/>
              <a:pathLst>
                <a:path h="85344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9507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DSO 3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97280" y="6565392"/>
            <a:ext cx="3383280" cy="731520"/>
            <a:chOff x="0" y="0"/>
            <a:chExt cx="4511040" cy="9753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511040" cy="975360"/>
            </a:xfrm>
            <a:custGeom>
              <a:avLst/>
              <a:gdLst/>
              <a:ahLst/>
              <a:cxnLst/>
              <a:rect r="r" b="b" t="t" l="l"/>
              <a:pathLst>
                <a:path h="9753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18" r="0" b="-4011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45110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 binaire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663440" y="6016752"/>
            <a:ext cx="8046720" cy="1335024"/>
            <a:chOff x="0" y="0"/>
            <a:chExt cx="10728960" cy="178003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728960" cy="1780032"/>
            </a:xfrm>
            <a:custGeom>
              <a:avLst/>
              <a:gdLst/>
              <a:ahLst/>
              <a:cxnLst/>
              <a:rect r="r" b="b" t="t" l="l"/>
              <a:pathLst>
                <a:path h="178003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780032"/>
                  </a:lnTo>
                  <a:lnTo>
                    <a:pt x="0" y="1780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444" r="0" b="-6744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10728960" cy="18276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Identifier les patients diabétiques à partir de leurs caractéristiques cliniques et comportementales.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801600" y="6016752"/>
            <a:ext cx="4572000" cy="1335024"/>
            <a:chOff x="0" y="0"/>
            <a:chExt cx="6096000" cy="178003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096000" cy="1780032"/>
            </a:xfrm>
            <a:custGeom>
              <a:avLst/>
              <a:gdLst/>
              <a:ahLst/>
              <a:cxnLst/>
              <a:rect r="r" b="b" t="t" l="l"/>
              <a:pathLst>
                <a:path h="178003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780032"/>
                  </a:lnTo>
                  <a:lnTo>
                    <a:pt x="0" y="1780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29" r="0" b="-1672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6096000" cy="18181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XGBoost, RF, Decision Tree, SVM (RBF/Poly), Naive Bayes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97280" y="7662672"/>
            <a:ext cx="1463040" cy="640080"/>
            <a:chOff x="0" y="0"/>
            <a:chExt cx="1950720" cy="8534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50720" cy="853440"/>
            </a:xfrm>
            <a:custGeom>
              <a:avLst/>
              <a:gdLst/>
              <a:ahLst/>
              <a:cxnLst/>
              <a:rect r="r" b="b" t="t" l="l"/>
              <a:pathLst>
                <a:path h="85344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9507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DSO 4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97280" y="8174736"/>
            <a:ext cx="3383280" cy="731520"/>
            <a:chOff x="0" y="0"/>
            <a:chExt cx="4511040" cy="9753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511040" cy="975360"/>
            </a:xfrm>
            <a:custGeom>
              <a:avLst/>
              <a:gdLst/>
              <a:ahLst/>
              <a:cxnLst/>
              <a:rect r="r" b="b" t="t" l="l"/>
              <a:pathLst>
                <a:path h="9753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18" r="0" b="-4011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45110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 multiclasse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4663440" y="7626096"/>
            <a:ext cx="8046720" cy="1335024"/>
            <a:chOff x="0" y="0"/>
            <a:chExt cx="10728960" cy="178003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728960" cy="1780032"/>
            </a:xfrm>
            <a:custGeom>
              <a:avLst/>
              <a:gdLst/>
              <a:ahLst/>
              <a:cxnLst/>
              <a:rect r="r" b="b" t="t" l="l"/>
              <a:pathLst>
                <a:path h="178003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780032"/>
                  </a:lnTo>
                  <a:lnTo>
                    <a:pt x="0" y="1780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444" r="0" b="-6744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0728960" cy="18276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Classifier le stade du diabète (No Diabetes, Pre-Diabetes, Type 1, Type 2, Gestational) pour orienter la prise en charge.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801600" y="7626096"/>
            <a:ext cx="4572000" cy="1335024"/>
            <a:chOff x="0" y="0"/>
            <a:chExt cx="6096000" cy="178003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096000" cy="1780032"/>
            </a:xfrm>
            <a:custGeom>
              <a:avLst/>
              <a:gdLst/>
              <a:ahLst/>
              <a:cxnLst/>
              <a:rect r="r" b="b" t="t" l="l"/>
              <a:pathLst>
                <a:path h="178003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780032"/>
                  </a:lnTo>
                  <a:lnTo>
                    <a:pt x="0" y="1780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29" r="0" b="-1672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6096000" cy="18181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Random Forest, Gradient Boosting, DT, LR, KNN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/ 23</a:t>
              </a:r>
            </a:p>
          </p:txBody>
        </p:sp>
      </p:grpSp>
      <p:sp>
        <p:nvSpPr>
          <p:cNvPr id="70" name="TextBox 69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6 / 31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108960"/>
            <a:ext cx="2926080" cy="1828800"/>
            <a:chOff x="0" y="0"/>
            <a:chExt cx="390144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14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901440" cy="2771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0"/>
                </a:lnSpc>
              </a:pPr>
              <a:r>
                <a:rPr lang="en-US" sz="1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21430" y="3364230"/>
            <a:ext cx="38100" cy="1318260"/>
            <a:chOff x="0" y="0"/>
            <a:chExt cx="50800" cy="1757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25400"/>
              <a:ext cx="50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0800">
                  <a:moveTo>
                    <a:pt x="50800" y="0"/>
                  </a:moveTo>
                  <a:lnTo>
                    <a:pt x="5080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206240" y="3291840"/>
            <a:ext cx="13167360" cy="1645920"/>
            <a:chOff x="0" y="0"/>
            <a:chExt cx="1755648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5564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755648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Compréhension des données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7 / 31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– Vue d'ensemble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011680"/>
            <a:ext cx="3840480" cy="1188720"/>
            <a:chOff x="0" y="0"/>
            <a:chExt cx="5120640" cy="1584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512064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100 000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3255264"/>
            <a:ext cx="3840480" cy="548640"/>
            <a:chOff x="0" y="0"/>
            <a:chExt cx="51206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5120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3749040"/>
            <a:ext cx="3840480" cy="548640"/>
            <a:chOff x="0" y="0"/>
            <a:chExt cx="512064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120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observations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836795" y="2185035"/>
            <a:ext cx="19050" cy="2030730"/>
            <a:chOff x="0" y="0"/>
            <a:chExt cx="25400" cy="2707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12700"/>
              <a:ext cx="254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5400">
                  <a:moveTo>
                    <a:pt x="25400" y="0"/>
                  </a:moveTo>
                  <a:lnTo>
                    <a:pt x="25400" y="2682240"/>
                  </a:lnTo>
                  <a:lnTo>
                    <a:pt x="0" y="2682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029200" y="2011680"/>
            <a:ext cx="3840480" cy="1188720"/>
            <a:chOff x="0" y="0"/>
            <a:chExt cx="5120640" cy="15849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23825"/>
              <a:ext cx="512064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029200" y="3255264"/>
            <a:ext cx="3840480" cy="548640"/>
            <a:chOff x="0" y="0"/>
            <a:chExt cx="512064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5120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variables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029200" y="3749040"/>
            <a:ext cx="3840480" cy="548640"/>
            <a:chOff x="0" y="0"/>
            <a:chExt cx="512064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120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951595" y="2185035"/>
            <a:ext cx="19050" cy="2030730"/>
            <a:chOff x="0" y="0"/>
            <a:chExt cx="25400" cy="2707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12700"/>
              <a:ext cx="254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5400">
                  <a:moveTo>
                    <a:pt x="25400" y="0"/>
                  </a:moveTo>
                  <a:lnTo>
                    <a:pt x="25400" y="2682240"/>
                  </a:lnTo>
                  <a:lnTo>
                    <a:pt x="0" y="2682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0" y="2011680"/>
            <a:ext cx="3840480" cy="1188720"/>
            <a:chOff x="0" y="0"/>
            <a:chExt cx="5120640" cy="15849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23825"/>
              <a:ext cx="512064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44000" y="3255264"/>
            <a:ext cx="3840480" cy="548640"/>
            <a:chOff x="0" y="0"/>
            <a:chExt cx="512064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5120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valeurs manquantes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4000" y="3749040"/>
            <a:ext cx="3840480" cy="548640"/>
            <a:chOff x="0" y="0"/>
            <a:chExt cx="512064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120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 propre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066395" y="2185035"/>
            <a:ext cx="19050" cy="2030730"/>
            <a:chOff x="0" y="0"/>
            <a:chExt cx="25400" cy="2707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12700"/>
              <a:ext cx="254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5400">
                  <a:moveTo>
                    <a:pt x="25400" y="0"/>
                  </a:moveTo>
                  <a:lnTo>
                    <a:pt x="25400" y="2682240"/>
                  </a:lnTo>
                  <a:lnTo>
                    <a:pt x="0" y="2682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258800" y="2011680"/>
            <a:ext cx="3840480" cy="1188720"/>
            <a:chOff x="0" y="0"/>
            <a:chExt cx="5120640" cy="15849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23825"/>
              <a:ext cx="512064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258800" y="3255264"/>
            <a:ext cx="3840480" cy="548640"/>
            <a:chOff x="0" y="0"/>
            <a:chExt cx="512064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5120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cibles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258800" y="3749040"/>
            <a:ext cx="3840480" cy="548640"/>
            <a:chOff x="0" y="0"/>
            <a:chExt cx="512064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5120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risk_score / diagnosed / stage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08047" y="4748527"/>
            <a:ext cx="16471897" cy="12697"/>
            <a:chOff x="0" y="0"/>
            <a:chExt cx="21962529" cy="1692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8509" y="0"/>
              <a:ext cx="21945601" cy="16891"/>
            </a:xfrm>
            <a:custGeom>
              <a:avLst/>
              <a:gdLst/>
              <a:ahLst/>
              <a:cxnLst/>
              <a:rect r="r" b="b" t="t" l="l"/>
              <a:pathLst>
                <a:path h="16891" w="21945601">
                  <a:moveTo>
                    <a:pt x="0" y="0"/>
                  </a:moveTo>
                  <a:lnTo>
                    <a:pt x="21945601" y="0"/>
                  </a:lnTo>
                  <a:lnTo>
                    <a:pt x="219456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14400" y="5029200"/>
            <a:ext cx="16459200" cy="640080"/>
            <a:chOff x="0" y="0"/>
            <a:chExt cx="21945600" cy="8534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Catégories des 31 variables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01703" y="5985767"/>
            <a:ext cx="171707" cy="574043"/>
            <a:chOff x="0" y="0"/>
            <a:chExt cx="228943" cy="76539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195072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8854" cy="765304"/>
            </a:xfrm>
            <a:custGeom>
              <a:avLst/>
              <a:gdLst/>
              <a:ahLst/>
              <a:cxnLst/>
              <a:rect r="r" b="b" t="t" l="l"/>
              <a:pathLst>
                <a:path h="76530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748411"/>
                  </a:lnTo>
                  <a:cubicBezTo>
                    <a:pt x="228854" y="757809"/>
                    <a:pt x="221234" y="765302"/>
                    <a:pt x="211963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211963" y="731520"/>
                  </a:lnTo>
                  <a:lnTo>
                    <a:pt x="211963" y="748411"/>
                  </a:lnTo>
                  <a:lnTo>
                    <a:pt x="195072" y="74841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80160" y="5852160"/>
            <a:ext cx="4754880" cy="822960"/>
            <a:chOff x="0" y="0"/>
            <a:chExt cx="6339840" cy="10972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339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63398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Cliniques / Biométriques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035040" y="5852160"/>
            <a:ext cx="11338560" cy="822960"/>
            <a:chOff x="0" y="0"/>
            <a:chExt cx="15118080" cy="10972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5118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118080">
                  <a:moveTo>
                    <a:pt x="0" y="0"/>
                  </a:moveTo>
                  <a:lnTo>
                    <a:pt x="15118080" y="0"/>
                  </a:lnTo>
                  <a:lnTo>
                    <a:pt x="15118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460" r="0" b="-21846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51180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bmi, waist_to_hip_ratio, systolic_bp, diastolic_bp, heart_rate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01703" y="6900167"/>
            <a:ext cx="171707" cy="574043"/>
            <a:chOff x="0" y="0"/>
            <a:chExt cx="228943" cy="76539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195072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28854" cy="765304"/>
            </a:xfrm>
            <a:custGeom>
              <a:avLst/>
              <a:gdLst/>
              <a:ahLst/>
              <a:cxnLst/>
              <a:rect r="r" b="b" t="t" l="l"/>
              <a:pathLst>
                <a:path h="76530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748411"/>
                  </a:lnTo>
                  <a:cubicBezTo>
                    <a:pt x="228854" y="757809"/>
                    <a:pt x="221234" y="765302"/>
                    <a:pt x="211963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211963" y="731520"/>
                  </a:lnTo>
                  <a:lnTo>
                    <a:pt x="211963" y="748411"/>
                  </a:lnTo>
                  <a:lnTo>
                    <a:pt x="195072" y="74841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80160" y="6766560"/>
            <a:ext cx="4754880" cy="822960"/>
            <a:chOff x="0" y="0"/>
            <a:chExt cx="6339840" cy="10972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339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63398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Biologiques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6035040" y="6766560"/>
            <a:ext cx="11338560" cy="822960"/>
            <a:chOff x="0" y="0"/>
            <a:chExt cx="15118080" cy="10972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5118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118080">
                  <a:moveTo>
                    <a:pt x="0" y="0"/>
                  </a:moveTo>
                  <a:lnTo>
                    <a:pt x="15118080" y="0"/>
                  </a:lnTo>
                  <a:lnTo>
                    <a:pt x="15118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460" r="0" b="-21846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151180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glucose_fasting, glucose_postprandial, hba1c, insulin_level, cholesterol_total, hdl/ldl, triglycerides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01703" y="7814567"/>
            <a:ext cx="171707" cy="574043"/>
            <a:chOff x="0" y="0"/>
            <a:chExt cx="228943" cy="76539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16891" y="16891"/>
              <a:ext cx="195072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28854" cy="765304"/>
            </a:xfrm>
            <a:custGeom>
              <a:avLst/>
              <a:gdLst/>
              <a:ahLst/>
              <a:cxnLst/>
              <a:rect r="r" b="b" t="t" l="l"/>
              <a:pathLst>
                <a:path h="76530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748411"/>
                  </a:lnTo>
                  <a:cubicBezTo>
                    <a:pt x="228854" y="757809"/>
                    <a:pt x="221234" y="765302"/>
                    <a:pt x="211963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211963" y="731520"/>
                  </a:lnTo>
                  <a:lnTo>
                    <a:pt x="211963" y="748411"/>
                  </a:lnTo>
                  <a:lnTo>
                    <a:pt x="195072" y="74841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280160" y="7680960"/>
            <a:ext cx="4754880" cy="822960"/>
            <a:chOff x="0" y="0"/>
            <a:chExt cx="6339840" cy="10972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339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63398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Comportementales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035040" y="7680960"/>
            <a:ext cx="11338560" cy="822960"/>
            <a:chOff x="0" y="0"/>
            <a:chExt cx="15118080" cy="10972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5118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118080">
                  <a:moveTo>
                    <a:pt x="0" y="0"/>
                  </a:moveTo>
                  <a:lnTo>
                    <a:pt x="15118080" y="0"/>
                  </a:lnTo>
                  <a:lnTo>
                    <a:pt x="15118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460" r="0" b="-21846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51180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physical_activity, diet_score, sleep_hours, screen_time, alcohol, smoking_status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01703" y="8728967"/>
            <a:ext cx="171707" cy="574043"/>
            <a:chOff x="0" y="0"/>
            <a:chExt cx="228943" cy="76539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16891" y="16891"/>
              <a:ext cx="195072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28854" cy="765304"/>
            </a:xfrm>
            <a:custGeom>
              <a:avLst/>
              <a:gdLst/>
              <a:ahLst/>
              <a:cxnLst/>
              <a:rect r="r" b="b" t="t" l="l"/>
              <a:pathLst>
                <a:path h="76530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748411"/>
                  </a:lnTo>
                  <a:cubicBezTo>
                    <a:pt x="228854" y="757809"/>
                    <a:pt x="221234" y="765302"/>
                    <a:pt x="211963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211963" y="731520"/>
                  </a:lnTo>
                  <a:lnTo>
                    <a:pt x="211963" y="748411"/>
                  </a:lnTo>
                  <a:lnTo>
                    <a:pt x="195072" y="74841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280160" y="8595360"/>
            <a:ext cx="4754880" cy="822960"/>
            <a:chOff x="0" y="0"/>
            <a:chExt cx="6339840" cy="109728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339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63398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Socio-démographiques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6035040" y="8595360"/>
            <a:ext cx="11338560" cy="822960"/>
            <a:chOff x="0" y="0"/>
            <a:chExt cx="15118080" cy="10972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5118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118080">
                  <a:moveTo>
                    <a:pt x="0" y="0"/>
                  </a:moveTo>
                  <a:lnTo>
                    <a:pt x="15118080" y="0"/>
                  </a:lnTo>
                  <a:lnTo>
                    <a:pt x="15118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460" r="0" b="-21846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151180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age, gender, ethnicity, education_level, income_level, employment_status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 / 23</a:t>
              </a:r>
            </a:p>
          </p:txBody>
        </p:sp>
      </p:grpSp>
      <p:sp>
        <p:nvSpPr>
          <p:cNvPr id="96" name="TextBox 95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8 / 31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Statistiques descriptives clés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73152" y="1115568"/>
            <a:ext cx="11850624" cy="8924544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 rot="0">
            <a:off x="11155680" y="2103120"/>
            <a:ext cx="6217920" cy="731520"/>
            <a:chOff x="0" y="0"/>
            <a:chExt cx="8290560" cy="97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90560" cy="975360"/>
            </a:xfrm>
            <a:custGeom>
              <a:avLst/>
              <a:gdLst/>
              <a:ahLst/>
              <a:cxnLst/>
              <a:rect r="r" b="b" t="t" l="l"/>
              <a:pathLst>
                <a:path h="97536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829056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Points remarquables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155680" y="2834640"/>
            <a:ext cx="6217920" cy="6217920"/>
            <a:chOff x="0" y="0"/>
            <a:chExt cx="8290560" cy="82905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90560" cy="8290560"/>
            </a:xfrm>
            <a:custGeom>
              <a:avLst/>
              <a:gdLst/>
              <a:ahLst/>
              <a:cxnLst/>
              <a:rect r="r" b="b" t="t" l="l"/>
              <a:pathLst>
                <a:path h="829056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8290560"/>
                  </a:lnTo>
                  <a:lnTo>
                    <a:pt x="0" y="829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290560" cy="8338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60 % des patients sont diabétiques (diagnosed = 1).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Âge : 18 – 90 ans (moy. 50,1).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BMI : 15,0 – 39,2 kg/m² (moy. 25,6).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Glucose à jeun : 60 – 172 mg/dL (moy. 111,1).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HbA1c : 4,0 – 9,8 % (moy. 6,5).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stades de diabète représentés.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 valeur manquante – dataset propre.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 / 23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9 / 31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108960"/>
            <a:ext cx="2926080" cy="1828800"/>
            <a:chOff x="0" y="0"/>
            <a:chExt cx="390144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14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901440" cy="2771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0"/>
                </a:lnSpc>
              </a:pPr>
              <a:r>
                <a:rPr lang="en-US" sz="1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21430" y="3364230"/>
            <a:ext cx="38100" cy="1318260"/>
            <a:chOff x="0" y="0"/>
            <a:chExt cx="50800" cy="1757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25400"/>
              <a:ext cx="50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0800">
                  <a:moveTo>
                    <a:pt x="50800" y="0"/>
                  </a:moveTo>
                  <a:lnTo>
                    <a:pt x="5080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206240" y="3291840"/>
            <a:ext cx="13167360" cy="1645920"/>
            <a:chOff x="0" y="0"/>
            <a:chExt cx="1755648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5564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755648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Préparation des données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10 / 31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Préparation des données – Pipeline en 6 étapes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194560"/>
            <a:ext cx="1097280" cy="914400"/>
            <a:chOff x="0" y="0"/>
            <a:chExt cx="146304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463040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913887" y="2279647"/>
            <a:ext cx="12697" cy="835657"/>
            <a:chOff x="0" y="0"/>
            <a:chExt cx="16929" cy="11142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8509"/>
              <a:ext cx="16891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891">
                  <a:moveTo>
                    <a:pt x="16891" y="0"/>
                  </a:moveTo>
                  <a:lnTo>
                    <a:pt x="16891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03120" y="2231136"/>
            <a:ext cx="4206240" cy="914400"/>
            <a:chOff x="0" y="0"/>
            <a:chExt cx="5608320" cy="121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6083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Vérification qualité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3291840"/>
            <a:ext cx="5303520" cy="2011680"/>
            <a:chOff x="0" y="0"/>
            <a:chExt cx="7071360" cy="2682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713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" r="0" b="-1369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07136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 valeur manquante, aucun doublon sur 100 000 lignes.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492240" y="2194560"/>
            <a:ext cx="1097280" cy="914400"/>
            <a:chOff x="0" y="0"/>
            <a:chExt cx="1463040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3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123825"/>
              <a:ext cx="1463040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491727" y="2279647"/>
            <a:ext cx="12697" cy="835657"/>
            <a:chOff x="0" y="0"/>
            <a:chExt cx="16929" cy="111420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8509"/>
              <a:ext cx="16891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891">
                  <a:moveTo>
                    <a:pt x="16891" y="0"/>
                  </a:moveTo>
                  <a:lnTo>
                    <a:pt x="16891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7680960" y="2231136"/>
            <a:ext cx="4206240" cy="914400"/>
            <a:chOff x="0" y="0"/>
            <a:chExt cx="5608320" cy="121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6083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Encodage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492240" y="3291840"/>
            <a:ext cx="5303520" cy="2011680"/>
            <a:chOff x="0" y="0"/>
            <a:chExt cx="7071360" cy="2682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713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" r="0" b="-1369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07136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OneHotEncoder pour les variables nominales (gender, ethnicity, smoking_status). LabelEncoder uniquement pour la cible ordinale diabetes_stage.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070080" y="2194560"/>
            <a:ext cx="1097280" cy="914400"/>
            <a:chOff x="0" y="0"/>
            <a:chExt cx="1463040" cy="121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3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123825"/>
              <a:ext cx="1463040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069567" y="2279647"/>
            <a:ext cx="12697" cy="835657"/>
            <a:chOff x="0" y="0"/>
            <a:chExt cx="16929" cy="111420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8509"/>
              <a:ext cx="16891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891">
                  <a:moveTo>
                    <a:pt x="16891" y="0"/>
                  </a:moveTo>
                  <a:lnTo>
                    <a:pt x="16891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258800" y="2231136"/>
            <a:ext cx="4206240" cy="914400"/>
            <a:chOff x="0" y="0"/>
            <a:chExt cx="5608320" cy="1219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6083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Normalisation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070080" y="3291840"/>
            <a:ext cx="5303520" cy="2011680"/>
            <a:chOff x="0" y="0"/>
            <a:chExt cx="7071360" cy="26822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0713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" r="0" b="-1369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07136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StandardScaler pour clustering, SVM et Naive Bayes ; MinMaxScaler pour la régression linéaire.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4400" y="5669280"/>
            <a:ext cx="1097280" cy="914400"/>
            <a:chOff x="0" y="0"/>
            <a:chExt cx="1463040" cy="1219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63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>
              <a:off x="0" y="-123825"/>
              <a:ext cx="1463040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913887" y="5754367"/>
            <a:ext cx="12697" cy="835657"/>
            <a:chOff x="0" y="0"/>
            <a:chExt cx="16929" cy="111420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8509"/>
              <a:ext cx="16891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891">
                  <a:moveTo>
                    <a:pt x="16891" y="0"/>
                  </a:moveTo>
                  <a:lnTo>
                    <a:pt x="16891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45" id="45"/>
          <p:cNvGrpSpPr/>
          <p:nvPr/>
        </p:nvGrpSpPr>
        <p:grpSpPr>
          <a:xfrm rot="0">
            <a:off x="2103120" y="5705856"/>
            <a:ext cx="4206240" cy="914400"/>
            <a:chOff x="0" y="0"/>
            <a:chExt cx="5608320" cy="1219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  <p:txBody>
            <a:bodyPr/>
            <a:p/>
          </p:txBody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56083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Réduction dimensionnelle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14400" y="6766560"/>
            <a:ext cx="5303520" cy="2011680"/>
            <a:chOff x="0" y="0"/>
            <a:chExt cx="7071360" cy="26822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0713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" r="0" b="-1369"/>
              </a:stretch>
            </a:blipFill>
          </p:spPr>
          <p:txBody>
            <a:bodyPr/>
            <a:p/>
          </p:txBody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707136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ACP à 2 composantes pour la visualisation. PC1 : risque métabolique ; PC2 : profil lipidique.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492240" y="5669280"/>
            <a:ext cx="1097280" cy="914400"/>
            <a:chOff x="0" y="0"/>
            <a:chExt cx="1463040" cy="1219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63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  <p:txBody>
            <a:bodyPr/>
            <a:p/>
          </p:txBody>
        </p:sp>
        <p:sp>
          <p:nvSpPr>
            <p:cNvPr name="TextBox 53" id="53"/>
            <p:cNvSpPr txBox="true"/>
            <p:nvPr/>
          </p:nvSpPr>
          <p:spPr>
            <a:xfrm>
              <a:off x="0" y="-123825"/>
              <a:ext cx="1463040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491727" y="5754367"/>
            <a:ext cx="12697" cy="835657"/>
            <a:chOff x="0" y="0"/>
            <a:chExt cx="16929" cy="111420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8509"/>
              <a:ext cx="16891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891">
                  <a:moveTo>
                    <a:pt x="16891" y="0"/>
                  </a:moveTo>
                  <a:lnTo>
                    <a:pt x="16891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56" id="56"/>
          <p:cNvGrpSpPr/>
          <p:nvPr/>
        </p:nvGrpSpPr>
        <p:grpSpPr>
          <a:xfrm rot="0">
            <a:off x="7680960" y="5705856"/>
            <a:ext cx="4206240" cy="914400"/>
            <a:chOff x="0" y="0"/>
            <a:chExt cx="5608320" cy="1219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  <p:txBody>
            <a:bodyPr/>
            <a:p/>
          </p:txBody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56083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 / Test split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492240" y="6766560"/>
            <a:ext cx="5303520" cy="2011680"/>
            <a:chOff x="0" y="0"/>
            <a:chExt cx="7071360" cy="26822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0713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" r="0" b="-1369"/>
              </a:stretch>
            </a:blipFill>
          </p:spPr>
          <p:txBody>
            <a:bodyPr/>
            <a:p/>
          </p:txBody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707136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80 % entraînement / 20 % test. Stratify=True en classification. random_state = 42.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070080" y="5669280"/>
            <a:ext cx="1097280" cy="914400"/>
            <a:chOff x="0" y="0"/>
            <a:chExt cx="1463040" cy="1219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63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  <p:txBody>
            <a:bodyPr/>
            <a:p/>
          </p:txBody>
        </p:sp>
        <p:sp>
          <p:nvSpPr>
            <p:cNvPr name="TextBox 64" id="64"/>
            <p:cNvSpPr txBox="true"/>
            <p:nvPr/>
          </p:nvSpPr>
          <p:spPr>
            <a:xfrm>
              <a:off x="0" y="-123825"/>
              <a:ext cx="1463040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069567" y="5754367"/>
            <a:ext cx="12697" cy="835657"/>
            <a:chOff x="0" y="0"/>
            <a:chExt cx="16929" cy="111420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8509"/>
              <a:ext cx="16891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891">
                  <a:moveTo>
                    <a:pt x="16891" y="0"/>
                  </a:moveTo>
                  <a:lnTo>
                    <a:pt x="16891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67" id="67"/>
          <p:cNvGrpSpPr/>
          <p:nvPr/>
        </p:nvGrpSpPr>
        <p:grpSpPr>
          <a:xfrm rot="0">
            <a:off x="13258800" y="5705856"/>
            <a:ext cx="4206240" cy="914400"/>
            <a:chOff x="0" y="0"/>
            <a:chExt cx="5608320" cy="12192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  <p:txBody>
            <a:bodyPr/>
            <a:p/>
          </p:txBody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56083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Sélection de features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070080" y="6766560"/>
            <a:ext cx="5303520" cy="2011680"/>
            <a:chOff x="0" y="0"/>
            <a:chExt cx="7071360" cy="26822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0713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" r="0" b="-1369"/>
              </a:stretch>
            </a:blipFill>
          </p:spPr>
          <p:txBody>
            <a:bodyPr/>
            <a:p/>
          </p:txBody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707136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RFE retient 5 features pour la régression : age, bmi, glucose_fasting, triglycerides, physical_activity.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  <p:txBody>
            <a:bodyPr/>
            <a:p/>
          </p:txBody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  <p:txBody>
            <a:bodyPr/>
            <a:p/>
          </p:txBody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 / 23</a:t>
              </a:r>
            </a:p>
          </p:txBody>
        </p:sp>
      </p:grpSp>
      <p:sp>
        <p:nvSpPr>
          <p:cNvPr id="79" name="TextBox 78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11 / 31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108960"/>
            <a:ext cx="2926080" cy="1828800"/>
            <a:chOff x="0" y="0"/>
            <a:chExt cx="390144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14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901440" cy="2771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0"/>
                </a:lnSpc>
              </a:pPr>
              <a:r>
                <a:rPr lang="en-US" sz="1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21430" y="3364230"/>
            <a:ext cx="38100" cy="1318260"/>
            <a:chOff x="0" y="0"/>
            <a:chExt cx="50800" cy="1757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25400"/>
              <a:ext cx="50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0800">
                  <a:moveTo>
                    <a:pt x="50800" y="0"/>
                  </a:moveTo>
                  <a:lnTo>
                    <a:pt x="5080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206240" y="3291840"/>
            <a:ext cx="13167360" cy="1645920"/>
            <a:chOff x="0" y="0"/>
            <a:chExt cx="1755648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5564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755648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Modélisation &amp; Benchmarking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12 / 31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DSO 1 – Segmentation des patients (K-Means &amp; DBSCAN)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828800"/>
            <a:ext cx="16459200" cy="640080"/>
            <a:chOff x="0" y="0"/>
            <a:chExt cx="219456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BO 1 : identifier des groupes de patients selon leur profil de risque pour des campagnes de prévention ciblées.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651760"/>
            <a:ext cx="8229600" cy="640080"/>
            <a:chOff x="0" y="0"/>
            <a:chExt cx="10972800" cy="853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K-Means (k = 4) — méthode du coude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1703" y="3370583"/>
            <a:ext cx="939803" cy="1031243"/>
            <a:chOff x="0" y="0"/>
            <a:chExt cx="1253071" cy="13749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529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358011"/>
                  </a:lnTo>
                  <a:cubicBezTo>
                    <a:pt x="1252982" y="1367409"/>
                    <a:pt x="1245362" y="1374902"/>
                    <a:pt x="12360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236091" y="1341120"/>
                  </a:lnTo>
                  <a:lnTo>
                    <a:pt x="1236091" y="1358011"/>
                  </a:lnTo>
                  <a:lnTo>
                    <a:pt x="1219200" y="135801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3383280"/>
            <a:ext cx="914400" cy="1005840"/>
            <a:chOff x="0" y="0"/>
            <a:chExt cx="1219200" cy="1341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21920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011680" y="3346704"/>
            <a:ext cx="6766560" cy="548640"/>
            <a:chOff x="0" y="0"/>
            <a:chExt cx="902208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  <p:txBody>
            <a:bodyPr/>
            <a:p/>
          </p:txBody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022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Profil sain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011680" y="3840480"/>
            <a:ext cx="6766560" cy="640080"/>
            <a:chOff x="0" y="0"/>
            <a:chExt cx="9022080" cy="853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984" r="0" b="-155984"/>
              </a:stretch>
            </a:blipFill>
          </p:spPr>
          <p:txBody>
            <a:bodyPr/>
            <a:p/>
          </p:txBody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0220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Glucose et BMI normaux, hygiène de vie favorable.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01703" y="4559303"/>
            <a:ext cx="939803" cy="1031243"/>
            <a:chOff x="0" y="0"/>
            <a:chExt cx="1253071" cy="137499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529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358011"/>
                  </a:lnTo>
                  <a:cubicBezTo>
                    <a:pt x="1252982" y="1367409"/>
                    <a:pt x="1245362" y="1374902"/>
                    <a:pt x="12360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236091" y="1341120"/>
                  </a:lnTo>
                  <a:lnTo>
                    <a:pt x="1236091" y="1358011"/>
                  </a:lnTo>
                  <a:lnTo>
                    <a:pt x="1219200" y="135801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4400" y="4572000"/>
            <a:ext cx="914400" cy="1005840"/>
            <a:chOff x="0" y="0"/>
            <a:chExt cx="1219200" cy="13411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  <p:txBody>
            <a:bodyPr/>
            <a:p/>
          </p:txBody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21920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011680" y="4535424"/>
            <a:ext cx="6766560" cy="548640"/>
            <a:chOff x="0" y="0"/>
            <a:chExt cx="902208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  <p:txBody>
            <a:bodyPr/>
            <a:p/>
          </p:txBody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022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Profil modéré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011680" y="5029200"/>
            <a:ext cx="6766560" cy="640080"/>
            <a:chOff x="0" y="0"/>
            <a:chExt cx="9022080" cy="853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984" r="0" b="-155984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90220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Légère élévation du glucose et du BMI.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01703" y="5748023"/>
            <a:ext cx="939803" cy="1031243"/>
            <a:chOff x="0" y="0"/>
            <a:chExt cx="1253071" cy="137499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529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358011"/>
                  </a:lnTo>
                  <a:cubicBezTo>
                    <a:pt x="1252982" y="1367409"/>
                    <a:pt x="1245362" y="1374902"/>
                    <a:pt x="12360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236091" y="1341120"/>
                  </a:lnTo>
                  <a:lnTo>
                    <a:pt x="1236091" y="1358011"/>
                  </a:lnTo>
                  <a:lnTo>
                    <a:pt x="1219200" y="135801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4400" y="5760720"/>
            <a:ext cx="914400" cy="1005840"/>
            <a:chOff x="0" y="0"/>
            <a:chExt cx="1219200" cy="13411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121920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011680" y="5724144"/>
            <a:ext cx="6766560" cy="548640"/>
            <a:chOff x="0" y="0"/>
            <a:chExt cx="902208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  <p:txBody>
            <a:bodyPr/>
            <a:p/>
          </p:txBody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9022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Profil à risque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011680" y="6217920"/>
            <a:ext cx="6766560" cy="640080"/>
            <a:chOff x="0" y="0"/>
            <a:chExt cx="9022080" cy="8534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984" r="0" b="-155984"/>
              </a:stretch>
            </a:blipFill>
          </p:spPr>
          <p:txBody>
            <a:bodyPr/>
            <a:p/>
          </p:txBody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0220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Glucose élevé, HbA1c &gt; 7 %, profil métabolique altéré.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01703" y="6936743"/>
            <a:ext cx="939803" cy="1031243"/>
            <a:chOff x="0" y="0"/>
            <a:chExt cx="1253071" cy="137499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529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358011"/>
                  </a:lnTo>
                  <a:cubicBezTo>
                    <a:pt x="1252982" y="1367409"/>
                    <a:pt x="1245362" y="1374902"/>
                    <a:pt x="12360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236091" y="1341120"/>
                  </a:lnTo>
                  <a:lnTo>
                    <a:pt x="1236091" y="1358011"/>
                  </a:lnTo>
                  <a:lnTo>
                    <a:pt x="1219200" y="135801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</p:grpSp>
      <p:grpSp>
        <p:nvGrpSpPr>
          <p:cNvPr name="Group 52" id="52"/>
          <p:cNvGrpSpPr/>
          <p:nvPr/>
        </p:nvGrpSpPr>
        <p:grpSpPr>
          <a:xfrm rot="0">
            <a:off x="914400" y="6949440"/>
            <a:ext cx="914400" cy="1005840"/>
            <a:chOff x="0" y="0"/>
            <a:chExt cx="1219200" cy="13411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  <p:txBody>
            <a:bodyPr/>
            <a:p/>
          </p:txBody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121920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011680" y="6912864"/>
            <a:ext cx="6766560" cy="548640"/>
            <a:chOff x="0" y="0"/>
            <a:chExt cx="902208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  <p:txBody>
            <a:bodyPr/>
            <a:p/>
          </p:txBody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9022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Profil critique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2011680" y="7406640"/>
            <a:ext cx="6766560" cy="640080"/>
            <a:chOff x="0" y="0"/>
            <a:chExt cx="9022080" cy="853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984" r="0" b="-155984"/>
              </a:stretch>
            </a:blipFill>
          </p:spPr>
          <p:txBody>
            <a:bodyPr/>
            <a:p/>
          </p:txBody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90220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Glucose &gt; 180, HbA1c &gt; 8,5 %, comorbidités.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509760" y="2651760"/>
            <a:ext cx="7863840" cy="640080"/>
            <a:chOff x="0" y="0"/>
            <a:chExt cx="10485120" cy="853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  <p:txBody>
            <a:bodyPr/>
            <a:p/>
          </p:txBody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04851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DBSCAN — détection d'outliers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509760" y="3383280"/>
            <a:ext cx="7863840" cy="4389120"/>
            <a:chOff x="0" y="0"/>
            <a:chExt cx="10485120" cy="58521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485120" cy="5852160"/>
            </a:xfrm>
            <a:custGeom>
              <a:avLst/>
              <a:gdLst/>
              <a:ahLst/>
              <a:cxnLst/>
              <a:rect r="r" b="b" t="t" l="l"/>
              <a:pathLst>
                <a:path h="58521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852160"/>
                  </a:lnTo>
                  <a:lnTo>
                    <a:pt x="0" y="5852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611" t="0" r="-21611" b="0"/>
              </a:stretch>
            </a:blipFill>
          </p:spPr>
          <p:txBody>
            <a:bodyPr/>
            <a:p/>
          </p:txBody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0485120" cy="5890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DBSCAN classe 96 158 patients comme outliers (96 %) — les paramètres eps/min_samples sont inadaptés à la haute dimensionnalité du dataset.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Cluster 0 : 3 830 patients seulement — un seul cluster dense identifié.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Micro-clusters de 3 à 5 patients : non exploitables statistiquement.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Conclusion : K-Means (k=4) est retenu pour la segmentation. DBSCAN n'est pas adapté à ce dataset (trop dense, paramètres difficiles à régler en haute dimension).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503407" y="7948927"/>
            <a:ext cx="7876537" cy="1475737"/>
            <a:chOff x="0" y="0"/>
            <a:chExt cx="10502049" cy="196764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8509" y="8509"/>
              <a:ext cx="10485119" cy="1950720"/>
            </a:xfrm>
            <a:custGeom>
              <a:avLst/>
              <a:gdLst/>
              <a:ahLst/>
              <a:cxnLst/>
              <a:rect r="r" b="b" t="t" l="l"/>
              <a:pathLst>
                <a:path h="1950720" w="10485119">
                  <a:moveTo>
                    <a:pt x="0" y="0"/>
                  </a:moveTo>
                  <a:lnTo>
                    <a:pt x="10485119" y="0"/>
                  </a:lnTo>
                  <a:lnTo>
                    <a:pt x="10485119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/>
            <a:p/>
          </p:txBody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502138" cy="1967738"/>
            </a:xfrm>
            <a:custGeom>
              <a:avLst/>
              <a:gdLst/>
              <a:ahLst/>
              <a:cxnLst/>
              <a:rect r="r" b="b" t="t" l="l"/>
              <a:pathLst>
                <a:path h="1967738" w="10502138">
                  <a:moveTo>
                    <a:pt x="8509" y="0"/>
                  </a:moveTo>
                  <a:lnTo>
                    <a:pt x="10493628" y="0"/>
                  </a:lnTo>
                  <a:cubicBezTo>
                    <a:pt x="10498327" y="0"/>
                    <a:pt x="10502138" y="3810"/>
                    <a:pt x="10502138" y="8509"/>
                  </a:cubicBezTo>
                  <a:lnTo>
                    <a:pt x="10502138" y="1959229"/>
                  </a:lnTo>
                  <a:cubicBezTo>
                    <a:pt x="10502138" y="1963928"/>
                    <a:pt x="10498327" y="1967738"/>
                    <a:pt x="10493628" y="1967738"/>
                  </a:cubicBezTo>
                  <a:lnTo>
                    <a:pt x="8509" y="1967738"/>
                  </a:lnTo>
                  <a:cubicBezTo>
                    <a:pt x="3810" y="1967738"/>
                    <a:pt x="0" y="1963928"/>
                    <a:pt x="0" y="19592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959229"/>
                  </a:lnTo>
                  <a:lnTo>
                    <a:pt x="8509" y="1959229"/>
                  </a:lnTo>
                  <a:lnTo>
                    <a:pt x="8509" y="1950720"/>
                  </a:lnTo>
                  <a:lnTo>
                    <a:pt x="10493628" y="1950720"/>
                  </a:lnTo>
                  <a:lnTo>
                    <a:pt x="10493628" y="1959229"/>
                  </a:lnTo>
                  <a:lnTo>
                    <a:pt x="10485120" y="1959229"/>
                  </a:lnTo>
                  <a:lnTo>
                    <a:pt x="10485120" y="8509"/>
                  </a:lnTo>
                  <a:lnTo>
                    <a:pt x="10493628" y="8509"/>
                  </a:lnTo>
                  <a:lnTo>
                    <a:pt x="104936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70" id="70"/>
          <p:cNvGrpSpPr/>
          <p:nvPr/>
        </p:nvGrpSpPr>
        <p:grpSpPr>
          <a:xfrm rot="0">
            <a:off x="9692640" y="8046720"/>
            <a:ext cx="7498080" cy="1280160"/>
            <a:chOff x="0" y="0"/>
            <a:chExt cx="9997440" cy="17068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9974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126" r="0" b="-64126"/>
              </a:stretch>
            </a:blipFill>
          </p:spPr>
          <p:txBody>
            <a:bodyPr/>
            <a:p/>
          </p:txBody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999744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1F293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ACP : PC1 = risque métabolique (HbA1c 0,42 ; Glucose 0,41)  ·  PC2 = profil lipidique (BMI 0,48 ; Waist/Hip 0,46)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  <p:txBody>
            <a:bodyPr/>
            <a:p/>
          </p:txBody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  <p:txBody>
            <a:bodyPr/>
            <a:p/>
          </p:txBody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 / 23</a:t>
              </a:r>
            </a:p>
          </p:txBody>
        </p:sp>
      </p:grpSp>
      <p:sp>
        <p:nvSpPr>
          <p:cNvPr id="79" name="TextBox 78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13 / 31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DSO 2 – Régression du score de risque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1828800"/>
            <a:ext cx="16459200" cy="640080"/>
            <a:chOff x="0" y="0"/>
            <a:chExt cx="219456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BO 2 : minimiser les erreurs de prédiction du score de risque afin de ne pas sous-estimer la dangerosité d'un profil patient.</a:t>
              </a:r>
            </a:p>
          </p:txBody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3152" y="1901952"/>
            <a:ext cx="10094976" cy="8266176"/>
          </a:xfrm>
          <a:prstGeom prst="rect">
            <a:avLst/>
          </a:prstGeom>
        </p:spPr>
      </p:pic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9875520" y="2743200"/>
          <a:ext cx="7442200" cy="3505200"/>
        </p:xfrm>
        <a:graphic>
          <a:graphicData uri="http://schemas.openxmlformats.org/drawingml/2006/table">
            <a:tbl>
              <a:tblPr/>
              <a:tblGrid>
                <a:gridCol w="2711229"/>
                <a:gridCol w="1636687"/>
                <a:gridCol w="1636687"/>
                <a:gridCol w="1457597"/>
              </a:tblGrid>
              <a:tr h="584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Modèle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RMSE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R²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Verdict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XGBoost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0,312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0,9988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Meilleur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Decision Tree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1,461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0,9741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Très bon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Random Forest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3,002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0,8908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Rég. Linéaire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6,370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0,5083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Limite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Rég. Polynomiale (d=2)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6,843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0,4327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Faible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 / 23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14 / 31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DSO 3 – Classification binaire (diagnosed_diabetes 0/1)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828800"/>
            <a:ext cx="16459200" cy="640080"/>
            <a:chOff x="0" y="0"/>
            <a:chExt cx="219456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BO 3 : identifier les patients diabétiques. Note : XGBoost, Decision Tree et Random Forest convergent vers le même score (~91.98 %) — le dataset présente un plafond statistique dû à la dominance de HbA1c et glucose. Choix de XGBoost justifié par sa robustesse (NaN, outliers, predict_proba calibré).</a:t>
              </a:r>
            </a:p>
          </p:txBody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3152" y="1901952"/>
            <a:ext cx="10094976" cy="8266176"/>
          </a:xfrm>
          <a:prstGeom prst="rect">
            <a:avLst/>
          </a:prstGeom>
        </p:spPr>
      </p:pic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9875520" y="2743200"/>
          <a:ext cx="7467600" cy="4445000"/>
        </p:xfrm>
        <a:graphic>
          <a:graphicData uri="http://schemas.openxmlformats.org/drawingml/2006/table">
            <a:tbl>
              <a:tblPr/>
              <a:tblGrid>
                <a:gridCol w="3090214"/>
                <a:gridCol w="2188693"/>
                <a:gridCol w="2188693"/>
              </a:tblGrid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Modèle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ROC-AUC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XGBoost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91,98 %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0,9432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Decision Tree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91,98 %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0,9431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Random Forest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91,97 %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0,9417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SVM (RBF)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88,41 %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0,9323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SVM (Poly)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87,78 %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0,9290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Naive Bayes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85,60 %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0,9209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 / 23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15 / 31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DSO 4 – Classification multiclasse (diabetes_stage)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828800"/>
            <a:ext cx="16459200" cy="640080"/>
            <a:chOff x="0" y="0"/>
            <a:chExt cx="219456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BO 4 : classifier le stade du diabète (No Diabetes, Pre-Diabetes, Type 1, Type 2, Gestational) pour orienter la prise en charge.</a:t>
              </a:r>
            </a:p>
          </p:txBody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28016" y="1700784"/>
            <a:ext cx="10314432" cy="8485632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 rot="0">
            <a:off x="9692640" y="2560320"/>
            <a:ext cx="7680960" cy="585216"/>
            <a:chOff x="0" y="0"/>
            <a:chExt cx="10241280" cy="7802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2412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Random Forest – Meilleurs hyperparamètres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92640" y="3145536"/>
            <a:ext cx="7680960" cy="1005840"/>
            <a:chOff x="0" y="0"/>
            <a:chExt cx="10241280" cy="1341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794" r="0" b="-98794"/>
              </a:stretch>
            </a:blip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2412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n_estimators = 200  ·  max_depth = 20  ·  max_features = sqrt  ·  min_samples_split = 2  ·  min_samples_leaf = 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79943" y="4284983"/>
            <a:ext cx="7706363" cy="1122683"/>
            <a:chOff x="0" y="0"/>
            <a:chExt cx="10275151" cy="14969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024128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7506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479931"/>
                  </a:lnTo>
                  <a:cubicBezTo>
                    <a:pt x="10275062" y="1489329"/>
                    <a:pt x="10267442" y="1496822"/>
                    <a:pt x="10258172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0258172" y="1463040"/>
                  </a:lnTo>
                  <a:lnTo>
                    <a:pt x="10258172" y="1479931"/>
                  </a:lnTo>
                  <a:lnTo>
                    <a:pt x="10241280" y="1479931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</p:grpSp>
      <p:grpSp>
        <p:nvGrpSpPr>
          <p:cNvPr name="Group 20" id="20"/>
          <p:cNvGrpSpPr/>
          <p:nvPr/>
        </p:nvGrpSpPr>
        <p:grpSpPr>
          <a:xfrm rot="0">
            <a:off x="9875520" y="4334256"/>
            <a:ext cx="4572000" cy="1005840"/>
            <a:chOff x="0" y="0"/>
            <a:chExt cx="6096000" cy="1341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960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8" r="0" b="-38568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09600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Accuracy finale : 91,65 %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447520" y="4334256"/>
            <a:ext cx="2743200" cy="1005840"/>
            <a:chOff x="0" y="0"/>
            <a:chExt cx="3657600" cy="13411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365760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B8E1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CV : 91,78 %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92640" y="5577840"/>
            <a:ext cx="7680960" cy="512064"/>
            <a:chOff x="0" y="0"/>
            <a:chExt cx="1024128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2412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Résultats par classe</a:t>
              </a:r>
            </a:p>
          </p:txBody>
        </p:sp>
      </p:grpSp>
      <p:graphicFrame>
        <p:nvGraphicFramePr>
          <p:cNvPr name="Table 29" id="29"/>
          <p:cNvGraphicFramePr>
            <a:graphicFrameLocks noGrp="true"/>
          </p:cNvGraphicFramePr>
          <p:nvPr/>
        </p:nvGraphicFramePr>
        <p:xfrm>
          <a:off x="9692640" y="6126480"/>
          <a:ext cx="7620000" cy="2286000"/>
        </p:xfrm>
        <a:graphic>
          <a:graphicData uri="http://schemas.openxmlformats.org/drawingml/2006/table">
            <a:tbl>
              <a:tblPr/>
              <a:tblGrid>
                <a:gridCol w="2710770"/>
                <a:gridCol w="1636410"/>
                <a:gridCol w="1636410"/>
                <a:gridCol w="1636410"/>
              </a:tblGrid>
              <a:tr h="381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Classe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Préc.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Recall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Diabetes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0,84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Pre-Diabetes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0,83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Type 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0,87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Type 1 *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Gestational *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pSp>
        <p:nvGrpSpPr>
          <p:cNvPr name="Group 30" id="30"/>
          <p:cNvGrpSpPr/>
          <p:nvPr/>
        </p:nvGrpSpPr>
        <p:grpSpPr>
          <a:xfrm rot="0">
            <a:off x="9692640" y="8686800"/>
            <a:ext cx="7680960" cy="548640"/>
            <a:chOff x="0" y="0"/>
            <a:chExt cx="1024128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  <p:txBody>
            <a:bodyPr/>
            <a:p/>
          </p:txBody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1024128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ATTENTION : classes rares Type 1 (39 patients) et Gestational (82 patients) non détectées par le modèle (F1 = 0). L'accuracy de 91.65 % est gonflée par les classes majoritaires. Correctif recommandé : class_weight='balanced' ou exclusion de ces classes du périmètre clinique.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  <p:txBody>
            <a:bodyPr/>
            <a:p/>
          </p:txBody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  <p:txBody>
            <a:bodyPr/>
            <a:p/>
          </p:txBody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 / 23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16 / 31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Synthèse du benchmarking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914400" y="2377440"/>
          <a:ext cx="16433800" cy="5461000"/>
        </p:xfrm>
        <a:graphic>
          <a:graphicData uri="http://schemas.openxmlformats.org/drawingml/2006/table">
            <a:tbl>
              <a:tblPr/>
              <a:tblGrid>
                <a:gridCol w="3649159"/>
                <a:gridCol w="3105560"/>
                <a:gridCol w="2924361"/>
                <a:gridCol w="2743161"/>
                <a:gridCol w="4011559"/>
              </a:tblGrid>
              <a:tr h="1092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Tâche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Meilleur modèle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Métrique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Valeur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Interprétation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1092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Clustering (DSO 1)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K-Means (k=4)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Segments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Profils exploitables pour la prévention ciblée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1092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Régression (DSO 2)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XGBoost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R²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0,9988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Score de risque prédit avec très haute précision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92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Classification binaire (DSO 3)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XGBoost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Accuracy / AUC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91,98 % / 0,9432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Détection fiable des patients diabétiques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1092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Classification multiclasse (DSO 4)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Random Forest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91,65 %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Stade du diabète classifié avec haute fiabilité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901703" y="8308343"/>
            <a:ext cx="16484603" cy="1031243"/>
            <a:chOff x="0" y="0"/>
            <a:chExt cx="21979471" cy="1374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19455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F2A4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793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1358011"/>
                  </a:lnTo>
                  <a:cubicBezTo>
                    <a:pt x="21979382" y="1367409"/>
                    <a:pt x="21971763" y="1374902"/>
                    <a:pt x="219624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1962490" y="1341120"/>
                  </a:lnTo>
                  <a:lnTo>
                    <a:pt x="21962490" y="1358011"/>
                  </a:lnTo>
                  <a:lnTo>
                    <a:pt x="21945600" y="1358011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A4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80160" y="8321040"/>
            <a:ext cx="15727680" cy="1005840"/>
            <a:chOff x="0" y="0"/>
            <a:chExt cx="20970240" cy="1341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9702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75" r="0" b="-25467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09702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XGBoost domine la régression et la classification binaire — Random Forest est le meilleur en multiclasse — K-Means structure la prévention.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 / 23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17 / 31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108960"/>
            <a:ext cx="2926080" cy="1828800"/>
            <a:chOff x="0" y="0"/>
            <a:chExt cx="390144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14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901440" cy="2771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0"/>
                </a:lnSpc>
              </a:pPr>
              <a:r>
                <a:rPr lang="en-US" sz="1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21430" y="3364230"/>
            <a:ext cx="38100" cy="1318260"/>
            <a:chOff x="0" y="0"/>
            <a:chExt cx="50800" cy="1757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25400"/>
              <a:ext cx="50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0800">
                  <a:moveTo>
                    <a:pt x="50800" y="0"/>
                  </a:moveTo>
                  <a:lnTo>
                    <a:pt x="5080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206240" y="3291840"/>
            <a:ext cx="13167360" cy="1645920"/>
            <a:chOff x="0" y="0"/>
            <a:chExt cx="1755648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5564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755648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Déploiement &amp; Démonstration technique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26 / 31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Architecture de l'application déployée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468880" y="2286000"/>
            <a:ext cx="914400" cy="914400"/>
            <a:chOff x="0" y="0"/>
            <a:chExt cx="1219200" cy="12192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3291840"/>
            <a:ext cx="4023360" cy="731520"/>
            <a:chOff x="0" y="0"/>
            <a:chExt cx="536448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53644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358390" y="4095750"/>
            <a:ext cx="1135380" cy="38100"/>
            <a:chOff x="0" y="0"/>
            <a:chExt cx="1513840" cy="50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0" y="0"/>
              <a:ext cx="1463040" cy="50800"/>
            </a:xfrm>
            <a:custGeom>
              <a:avLst/>
              <a:gdLst/>
              <a:ahLst/>
              <a:cxnLst/>
              <a:rect r="r" b="b" t="t" l="l"/>
              <a:pathLst>
                <a:path h="508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4389120"/>
            <a:ext cx="3657600" cy="4023360"/>
            <a:chOff x="0" y="0"/>
            <a:chExt cx="4876800" cy="536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76800" cy="5364480"/>
            </a:xfrm>
            <a:custGeom>
              <a:avLst/>
              <a:gdLst/>
              <a:ahLst/>
              <a:cxnLst/>
              <a:rect r="r" b="b" t="t" l="l"/>
              <a:pathLst>
                <a:path h="53644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0"/>
                  </a:lnTo>
                  <a:lnTo>
                    <a:pt x="0" y="536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876800" cy="540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Interface web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Formulaire patient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 résultats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Visualisations graphiques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83680" y="2286000"/>
            <a:ext cx="914400" cy="914400"/>
            <a:chOff x="0" y="0"/>
            <a:chExt cx="1219200" cy="12192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029200" y="3291840"/>
            <a:ext cx="4023360" cy="731520"/>
            <a:chOff x="0" y="0"/>
            <a:chExt cx="5364480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53644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 API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73190" y="4095750"/>
            <a:ext cx="1135380" cy="38100"/>
            <a:chOff x="0" y="0"/>
            <a:chExt cx="1513840" cy="50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5400" y="0"/>
              <a:ext cx="1463040" cy="50800"/>
            </a:xfrm>
            <a:custGeom>
              <a:avLst/>
              <a:gdLst/>
              <a:ahLst/>
              <a:cxnLst/>
              <a:rect r="r" b="b" t="t" l="l"/>
              <a:pathLst>
                <a:path h="508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212080" y="4389120"/>
            <a:ext cx="3657600" cy="4023360"/>
            <a:chOff x="0" y="0"/>
            <a:chExt cx="4876800" cy="53644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76800" cy="5364480"/>
            </a:xfrm>
            <a:custGeom>
              <a:avLst/>
              <a:gdLst/>
              <a:ahLst/>
              <a:cxnLst/>
              <a:rect r="r" b="b" t="t" l="l"/>
              <a:pathLst>
                <a:path h="53644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0"/>
                  </a:lnTo>
                  <a:lnTo>
                    <a:pt x="0" y="536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876800" cy="540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API REST (Flask / FastAPI)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Routes de prédiction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Validation des données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Gestion des requêtes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698480" y="2286000"/>
            <a:ext cx="914400" cy="914400"/>
            <a:chOff x="0" y="0"/>
            <a:chExt cx="1219200" cy="121920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0" y="3291840"/>
            <a:ext cx="4023360" cy="731520"/>
            <a:chOff x="0" y="0"/>
            <a:chExt cx="5364480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3644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Modèles ML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587990" y="4095750"/>
            <a:ext cx="1135380" cy="38100"/>
            <a:chOff x="0" y="0"/>
            <a:chExt cx="1513840" cy="50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25400" y="0"/>
              <a:ext cx="1463040" cy="50800"/>
            </a:xfrm>
            <a:custGeom>
              <a:avLst/>
              <a:gdLst/>
              <a:ahLst/>
              <a:cxnLst/>
              <a:rect r="r" b="b" t="t" l="l"/>
              <a:pathLst>
                <a:path h="508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326880" y="4389120"/>
            <a:ext cx="3657600" cy="4023360"/>
            <a:chOff x="0" y="0"/>
            <a:chExt cx="4876800" cy="53644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876800" cy="5364480"/>
            </a:xfrm>
            <a:custGeom>
              <a:avLst/>
              <a:gdLst/>
              <a:ahLst/>
              <a:cxnLst/>
              <a:rect r="r" b="b" t="t" l="l"/>
              <a:pathLst>
                <a:path h="53644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0"/>
                  </a:lnTo>
                  <a:lnTo>
                    <a:pt x="0" y="536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4876800" cy="540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XGBoost (régression)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XGBoost (classification)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 (multiclasse)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K-Means (clustering)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813280" y="2286000"/>
            <a:ext cx="914400" cy="914400"/>
            <a:chOff x="0" y="0"/>
            <a:chExt cx="1219200" cy="1219200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258800" y="3291840"/>
            <a:ext cx="4023360" cy="731520"/>
            <a:chOff x="0" y="0"/>
            <a:chExt cx="5364480" cy="975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3644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Données &amp; assets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702790" y="4095750"/>
            <a:ext cx="1135380" cy="38100"/>
            <a:chOff x="0" y="0"/>
            <a:chExt cx="1513840" cy="50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25400" y="0"/>
              <a:ext cx="1463040" cy="50800"/>
            </a:xfrm>
            <a:custGeom>
              <a:avLst/>
              <a:gdLst/>
              <a:ahLst/>
              <a:cxnLst/>
              <a:rect r="r" b="b" t="t" l="l"/>
              <a:pathLst>
                <a:path h="508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441680" y="4389120"/>
            <a:ext cx="3657600" cy="4023360"/>
            <a:chOff x="0" y="0"/>
            <a:chExt cx="4876800" cy="53644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76800" cy="5364480"/>
            </a:xfrm>
            <a:custGeom>
              <a:avLst/>
              <a:gdLst/>
              <a:ahLst/>
              <a:cxnLst/>
              <a:rect r="r" b="b" t="t" l="l"/>
              <a:pathLst>
                <a:path h="53644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0"/>
                  </a:lnTo>
                  <a:lnTo>
                    <a:pt x="0" y="536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876800" cy="540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100 000 patients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31 variables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Modèles entraînés (.pkl)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Pipeline reproductible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08047" y="8314687"/>
            <a:ext cx="16471897" cy="1018537"/>
            <a:chOff x="0" y="0"/>
            <a:chExt cx="21962529" cy="135804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8509" y="8509"/>
              <a:ext cx="21945601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1">
                  <a:moveTo>
                    <a:pt x="0" y="0"/>
                  </a:moveTo>
                  <a:lnTo>
                    <a:pt x="21945601" y="0"/>
                  </a:lnTo>
                  <a:lnTo>
                    <a:pt x="21945601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962618" cy="1358138"/>
            </a:xfrm>
            <a:custGeom>
              <a:avLst/>
              <a:gdLst/>
              <a:ahLst/>
              <a:cxnLst/>
              <a:rect r="r" b="b" t="t" l="l"/>
              <a:pathLst>
                <a:path h="1358138" w="21962618">
                  <a:moveTo>
                    <a:pt x="8509" y="0"/>
                  </a:moveTo>
                  <a:lnTo>
                    <a:pt x="21954110" y="0"/>
                  </a:lnTo>
                  <a:cubicBezTo>
                    <a:pt x="21958808" y="0"/>
                    <a:pt x="21962618" y="3810"/>
                    <a:pt x="21962618" y="8509"/>
                  </a:cubicBezTo>
                  <a:lnTo>
                    <a:pt x="21962618" y="1349629"/>
                  </a:lnTo>
                  <a:cubicBezTo>
                    <a:pt x="21962618" y="1354328"/>
                    <a:pt x="21958808" y="1358138"/>
                    <a:pt x="21954110" y="1358138"/>
                  </a:cubicBezTo>
                  <a:lnTo>
                    <a:pt x="8509" y="1358138"/>
                  </a:lnTo>
                  <a:cubicBezTo>
                    <a:pt x="3810" y="1358138"/>
                    <a:pt x="0" y="1354328"/>
                    <a:pt x="0" y="13496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49629"/>
                  </a:lnTo>
                  <a:lnTo>
                    <a:pt x="8509" y="1349629"/>
                  </a:lnTo>
                  <a:lnTo>
                    <a:pt x="8509" y="1341120"/>
                  </a:lnTo>
                  <a:lnTo>
                    <a:pt x="21954110" y="1341120"/>
                  </a:lnTo>
                  <a:lnTo>
                    <a:pt x="21954110" y="1349629"/>
                  </a:lnTo>
                  <a:lnTo>
                    <a:pt x="21945600" y="1349629"/>
                  </a:lnTo>
                  <a:lnTo>
                    <a:pt x="21945600" y="8509"/>
                  </a:lnTo>
                  <a:lnTo>
                    <a:pt x="21954110" y="8509"/>
                  </a:lnTo>
                  <a:lnTo>
                    <a:pt x="219541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80160" y="8321040"/>
            <a:ext cx="15727680" cy="1005840"/>
            <a:chOff x="0" y="0"/>
            <a:chExt cx="20970240" cy="13411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9702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75" r="0" b="-25467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209702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0F2A4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Démonstration en direct : saisie d'un profil patient → prédiction du risque, du diagnostic et du stade en temps réel.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 / 23</a:t>
              </a: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27 / 31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108960"/>
            <a:ext cx="2926080" cy="1828800"/>
            <a:chOff x="0" y="0"/>
            <a:chExt cx="390144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14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901440" cy="2771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0"/>
                </a:lnSpc>
              </a:pPr>
              <a:r>
                <a:rPr lang="en-US" sz="1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21430" y="3364230"/>
            <a:ext cx="38100" cy="1318260"/>
            <a:chOff x="0" y="0"/>
            <a:chExt cx="50800" cy="1757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25400"/>
              <a:ext cx="50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0800">
                  <a:moveTo>
                    <a:pt x="50800" y="0"/>
                  </a:moveTo>
                  <a:lnTo>
                    <a:pt x="5080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206240" y="3291840"/>
            <a:ext cx="13167360" cy="1645920"/>
            <a:chOff x="0" y="0"/>
            <a:chExt cx="1755648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5564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755648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 &amp; Perspectives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28 / 31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 – Résultats clés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286000"/>
            <a:ext cx="731520" cy="731520"/>
            <a:chOff x="0" y="0"/>
            <a:chExt cx="975360" cy="97536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920240" y="2231136"/>
            <a:ext cx="7132320" cy="822960"/>
            <a:chOff x="0" y="0"/>
            <a:chExt cx="950976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09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95097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Prévention ciblée (DSO 1)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3200400"/>
            <a:ext cx="8138160" cy="2011680"/>
            <a:chOff x="0" y="0"/>
            <a:chExt cx="10850880" cy="26822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8508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25" r="0" b="-288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85088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K-Means identifie 4 profils de patients exploitables pour des programmes de dépistage proactifs ciblant les profils à risque élevé.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235440" y="2286000"/>
            <a:ext cx="731520" cy="731520"/>
            <a:chOff x="0" y="0"/>
            <a:chExt cx="975360" cy="97536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241280" y="2231136"/>
            <a:ext cx="7132320" cy="822960"/>
            <a:chOff x="0" y="0"/>
            <a:chExt cx="950976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09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95097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Score de risque (DSO 2)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35440" y="3200400"/>
            <a:ext cx="8138160" cy="2011680"/>
            <a:chOff x="0" y="0"/>
            <a:chExt cx="10850880" cy="2682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508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25" r="0" b="-2882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85088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XGBoost prédit diabetes_risk_score avec un R² de 0,9988. Déploiement recommandé pour le triage automatique des nouveaux patients.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5669280"/>
            <a:ext cx="731520" cy="731520"/>
            <a:chOff x="0" y="0"/>
            <a:chExt cx="975360" cy="97536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920240" y="5614416"/>
            <a:ext cx="7132320" cy="822960"/>
            <a:chOff x="0" y="0"/>
            <a:chExt cx="950976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509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95097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Détection binaire (DSO 3)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4400" y="6583680"/>
            <a:ext cx="8138160" cy="2011680"/>
            <a:chOff x="0" y="0"/>
            <a:chExt cx="10850880" cy="26822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8508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25" r="0" b="-2882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085088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XGBoost atteint 91,98 % d'accuracy et un ROC-AUC de 0,9432. Fiabilité clinique validée pour la détection des patients diabétiques.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235440" y="5669280"/>
            <a:ext cx="731520" cy="731520"/>
            <a:chOff x="0" y="0"/>
            <a:chExt cx="975360" cy="97536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241280" y="5614416"/>
            <a:ext cx="7132320" cy="822960"/>
            <a:chOff x="0" y="0"/>
            <a:chExt cx="9509760" cy="1097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509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95097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 du stade (DSO 4)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235440" y="6583680"/>
            <a:ext cx="8138160" cy="2011680"/>
            <a:chOff x="0" y="0"/>
            <a:chExt cx="10850880" cy="26822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8508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25" r="0" b="-2882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085088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 classe les 5 stades avec 91,65 % d'accuracy. Les variables glucose_fasting, hba1c et diabetes_risk_score sont les plus discriminantes.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21 / 23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29 / 31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Perspectives &amp; Améliorations futures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280" y="2432304"/>
            <a:ext cx="822960" cy="822960"/>
            <a:chOff x="0" y="0"/>
            <a:chExt cx="1097280" cy="109728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2286000" y="2286000"/>
            <a:ext cx="14630400" cy="548640"/>
            <a:chOff x="0" y="0"/>
            <a:chExt cx="1950720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  <p:txBody>
            <a:bodyPr/>
            <a:p/>
          </p:txBody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95072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Données longitudinales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286000" y="2834640"/>
            <a:ext cx="14996160" cy="822960"/>
            <a:chOff x="0" y="0"/>
            <a:chExt cx="1999488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99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060" r="0" b="-305060"/>
              </a:stretch>
            </a:blip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99948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Intégrer un suivi temporel des patients pour prédire les transitions entre les stades du diabète.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7280" y="3858768"/>
            <a:ext cx="822960" cy="822960"/>
            <a:chOff x="0" y="0"/>
            <a:chExt cx="1097280" cy="109728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2286000" y="3712464"/>
            <a:ext cx="14630400" cy="548640"/>
            <a:chOff x="0" y="0"/>
            <a:chExt cx="195072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95072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Deep Learning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286000" y="4261104"/>
            <a:ext cx="14996160" cy="822960"/>
            <a:chOff x="0" y="0"/>
            <a:chExt cx="1999488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99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060" r="0" b="-305060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99948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Explorer les réseaux de neurones (MLP, LSTM) pour capturer des patterns plus complexes dans les données cliniques.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97280" y="5285232"/>
            <a:ext cx="822960" cy="822960"/>
            <a:chOff x="0" y="0"/>
            <a:chExt cx="1097280" cy="109728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2286000" y="5138928"/>
            <a:ext cx="14630400" cy="548640"/>
            <a:chOff x="0" y="0"/>
            <a:chExt cx="1950720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50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  <p:txBody>
            <a:bodyPr/>
            <a:p/>
          </p:txBody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95072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Données déséquilibrées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286000" y="5687568"/>
            <a:ext cx="14996160" cy="822960"/>
            <a:chOff x="0" y="0"/>
            <a:chExt cx="1999488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99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060" r="0" b="-305060"/>
              </a:stretch>
            </a:blipFill>
          </p:spPr>
          <p:txBody>
            <a:bodyPr/>
            <a:p/>
          </p:txBody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99948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Pour DSO4 uniquement : appliquer class_weight='balanced' (préférable à SMOTE qui créerait des patients synthétiques médicalement incohérents) pour détecter Type 1 et Gestational. DSO3 n'en a pas besoin (40 K vs 60 K patients déjà équilibrés).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97280" y="6711696"/>
            <a:ext cx="822960" cy="822960"/>
            <a:chOff x="0" y="0"/>
            <a:chExt cx="1097280" cy="109728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2286000" y="6565392"/>
            <a:ext cx="14630400" cy="548640"/>
            <a:chOff x="0" y="0"/>
            <a:chExt cx="1950720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50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  <p:txBody>
            <a:bodyPr/>
            <a:p/>
          </p:txBody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95072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Intégration clinique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286000" y="7114032"/>
            <a:ext cx="14996160" cy="822960"/>
            <a:chOff x="0" y="0"/>
            <a:chExt cx="19994880" cy="1097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99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060" r="0" b="-305060"/>
              </a:stretch>
            </a:blipFill>
          </p:spPr>
          <p:txBody>
            <a:bodyPr/>
            <a:p/>
          </p:txBody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99948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Connecter l'application aux Systèmes d'Information Hospitaliers (SIH) pour un usage en conditions réelles.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01703" y="8308343"/>
            <a:ext cx="16484603" cy="1031243"/>
            <a:chOff x="0" y="0"/>
            <a:chExt cx="21979471" cy="137499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219455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793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1358011"/>
                  </a:lnTo>
                  <a:cubicBezTo>
                    <a:pt x="21979382" y="1367409"/>
                    <a:pt x="21971763" y="1374902"/>
                    <a:pt x="219624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1962490" y="1341120"/>
                  </a:lnTo>
                  <a:lnTo>
                    <a:pt x="21962490" y="1358011"/>
                  </a:lnTo>
                  <a:lnTo>
                    <a:pt x="21945600" y="1358011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80160" y="8321040"/>
            <a:ext cx="15727680" cy="1005840"/>
            <a:chOff x="0" y="0"/>
            <a:chExt cx="20970240" cy="13411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9702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75" r="0" b="-254675"/>
              </a:stretch>
            </a:blipFill>
          </p:spPr>
          <p:txBody>
            <a:bodyPr/>
            <a:p/>
          </p:txBody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209702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Ce projet démontre que le Machine Learning peut transformer le dépistage du diabète, de la prévention à la personnalisation des soins.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  <p:txBody>
            <a:bodyPr/>
            <a:p/>
          </p:txBody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  <p:txBody>
            <a:bodyPr/>
            <a:p/>
          </p:txBody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 / 23</a:t>
              </a: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30 / 31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63040" y="3657600"/>
            <a:ext cx="15727680" cy="1645920"/>
            <a:chOff x="0" y="0"/>
            <a:chExt cx="2097024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970239" cy="2194560"/>
            </a:xfrm>
            <a:custGeom>
              <a:avLst/>
              <a:gdLst/>
              <a:ahLst/>
              <a:cxnLst/>
              <a:rect r="r" b="b" t="t" l="l"/>
              <a:pathLst>
                <a:path h="219456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190" r="0" b="-13619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52400"/>
              <a:ext cx="20970240" cy="2346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Merci pour votre attention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43990" y="5467350"/>
            <a:ext cx="2781300" cy="38100"/>
            <a:chOff x="0" y="0"/>
            <a:chExt cx="3708400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0"/>
              <a:ext cx="3657600" cy="50800"/>
            </a:xfrm>
            <a:custGeom>
              <a:avLst/>
              <a:gdLst/>
              <a:ahLst/>
              <a:cxnLst/>
              <a:rect r="r" b="b" t="t" l="l"/>
              <a:pathLst>
                <a:path h="508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63040" y="5669280"/>
            <a:ext cx="15727680" cy="731520"/>
            <a:chOff x="0" y="0"/>
            <a:chExt cx="2097024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970239" cy="975360"/>
            </a:xfrm>
            <a:custGeom>
              <a:avLst/>
              <a:gdLst/>
              <a:ahLst/>
              <a:cxnLst/>
              <a:rect r="r" b="b" t="t" l="l"/>
              <a:pathLst>
                <a:path h="97536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8" r="0" b="-36892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09702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B8E1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Questions &amp; Discussion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3040" y="8778240"/>
            <a:ext cx="15727680" cy="548640"/>
            <a:chOff x="0" y="0"/>
            <a:chExt cx="2097024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970239" cy="731520"/>
            </a:xfrm>
            <a:custGeom>
              <a:avLst/>
              <a:gdLst/>
              <a:ahLst/>
              <a:cxnLst/>
              <a:rect r="r" b="b" t="t" l="l"/>
              <a:pathLst>
                <a:path h="7315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571" r="0" b="-50857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970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9CB3C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Module : Machine Learning Appliqué  ·  Responsable : Dr. Jihen Hlel  ·  ESPRIT 2025-2026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31 /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801600" y="-3086100"/>
            <a:ext cx="7315200" cy="7315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6172200"/>
            <a:ext cx="4572000" cy="45720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4572000" cy="18288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200" b="1">
                <a:solidFill>
                  <a:srgbClr val="22D3EE"/>
                </a:solidFill>
                <a:latin typeface="Inter"/>
              </a:rPr>
              <a:t>05.bis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1554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Inter"/>
              </a:rPr>
              <a:t>Visualisations &amp; Analyses graphiques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126480"/>
            <a:ext cx="1554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1F5F9"/>
                </a:solidFill>
                <a:latin typeface="Inter"/>
              </a:rPr>
              <a:t>Diagrammes generes a partir du modele entraine sur les 100 000 patients du dataset.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18 / 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700784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Inter"/>
              </a:rPr>
              <a:t>DSO3 — Comparaison des modeles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7007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64748B"/>
                </a:solidFill>
                <a:latin typeface="Inter"/>
              </a:rPr>
              <a:t>Accuracy et ROC-AUC des 6 algorithmes testes sur 20 000 patients de test</a:t>
            </a:r>
          </a:p>
        </p:txBody>
      </p:sp>
      <p:pic>
        <p:nvPicPr>
          <p:cNvPr id="5" name="Picture 4" descr="01_dso3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707" y="2103120"/>
            <a:ext cx="1546258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9235440"/>
            <a:ext cx="1554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Inter"/>
              </a:rPr>
              <a:t>XGBoost retenu (encadre vert) — meilleur ROC-AUC malgre une accuracy comparable a Decision Tree et 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19 / 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700784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Inter"/>
              </a:rPr>
              <a:t>Courbes ROC — Validation des modeles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7007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64748B"/>
                </a:solidFill>
                <a:latin typeface="Inter"/>
              </a:rPr>
              <a:t>Compromis sensibilite / specificite des 3 meilleurs modeles</a:t>
            </a:r>
          </a:p>
        </p:txBody>
      </p:sp>
      <p:pic>
        <p:nvPicPr>
          <p:cNvPr id="5" name="Picture 4" descr="03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001" y="2103120"/>
            <a:ext cx="8613997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9235440"/>
            <a:ext cx="1554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Inter"/>
              </a:rPr>
              <a:t>Plus la courbe se rapproche du coin superieur gauche, meilleur est le modele. XGBoost domine legerement.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20 / 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700784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Inter"/>
              </a:rPr>
              <a:t>Matrice de confusion — XGBoost (DSO3)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7007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64748B"/>
                </a:solidFill>
                <a:latin typeface="Inter"/>
              </a:rPr>
              <a:t>Distribution des predictions correctes et erreurs sur 20 000 patients de test</a:t>
            </a:r>
          </a:p>
        </p:txBody>
      </p:sp>
      <p:pic>
        <p:nvPicPr>
          <p:cNvPr id="5" name="Picture 4" descr="04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253" y="2103120"/>
            <a:ext cx="7823494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9235440"/>
            <a:ext cx="1554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Inter"/>
              </a:rPr>
              <a:t>True Positive + True Negative = 91.98% · Faux Positifs et Faux Negatifs equilibres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21 /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700784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Inter"/>
              </a:rPr>
              <a:t>Importance des variables (XAI)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7007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64748B"/>
                </a:solidFill>
                <a:latin typeface="Inter"/>
              </a:rPr>
              <a:t>Top 12 facteurs les plus discriminants identifies par XGBoost</a:t>
            </a:r>
          </a:p>
        </p:txBody>
      </p:sp>
      <p:pic>
        <p:nvPicPr>
          <p:cNvPr id="5" name="Picture 4" descr="05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583" y="2103120"/>
            <a:ext cx="10856833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9235440"/>
            <a:ext cx="1554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Inter"/>
              </a:rPr>
              <a:t>HbA1c, glucose et IMC sont les variables les plus discriminantes — coherent avec la litterature medicale.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22 / 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700784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Inter"/>
              </a:rPr>
              <a:t>Architecture du pipeline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7007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64748B"/>
                </a:solidFill>
                <a:latin typeface="Inter"/>
              </a:rPr>
              <a:t>Flux de transformation des donnees brutes vers la prediction</a:t>
            </a:r>
          </a:p>
        </p:txBody>
      </p:sp>
      <p:pic>
        <p:nvPicPr>
          <p:cNvPr id="5" name="Picture 4" descr="06_pipelin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196" y="2103120"/>
            <a:ext cx="13815608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9235440"/>
            <a:ext cx="1554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Inter"/>
              </a:rPr>
              <a:t>ColumnTransformer applique des transformations differentes selon le type de variable (num. / cat.)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23 /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700784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Inter"/>
              </a:rPr>
              <a:t>Validation anti-overfitting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7007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64748B"/>
                </a:solidFill>
                <a:latin typeface="Inter"/>
              </a:rPr>
              <a:t>Comparaison Train vs Test accuracy pour detecter la memorisation</a:t>
            </a:r>
          </a:p>
        </p:txBody>
      </p:sp>
      <p:pic>
        <p:nvPicPr>
          <p:cNvPr id="5" name="Picture 4" descr="07_train_vs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171" y="2103120"/>
            <a:ext cx="10709658" cy="6400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0" y="8869680"/>
            <a:ext cx="8229600" cy="54864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✓  GAP = 0.18%  —  AUCUN OVERFITTING DETECTE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601200"/>
            <a:ext cx="1554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Inter"/>
              </a:rPr>
              <a:t>Gap inferieur a 5% — le modele generalise correctement aux donnees de test.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24 /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700784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Inter"/>
              </a:rPr>
              <a:t>DSO4 — Probleme du desequilibre extreme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7007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64748B"/>
                </a:solidFill>
                <a:latin typeface="Inter"/>
              </a:rPr>
              <a:t>Pourquoi 91.65% d'accuracy cache un modele inutilisable pour Type 1 et Gestational</a:t>
            </a:r>
          </a:p>
        </p:txBody>
      </p:sp>
      <p:pic>
        <p:nvPicPr>
          <p:cNvPr id="5" name="Picture 4" descr="08_class_imbalance_ds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287" y="2103120"/>
            <a:ext cx="1545142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9235440"/>
            <a:ext cx="1554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Inter"/>
              </a:rPr>
              <a:t>Type 1 (39 patients) et Gestational (82 patients) ne sont JAMAIS detectes (F1 = 0). Correctif : class_weight='balanced'.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829800"/>
            <a:ext cx="17007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Inter"/>
              </a:rPr>
              <a:t>Validation Commerciale MLA  ·  Module Machine Learning Appliqué  ·  ESPRIT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829800"/>
            <a:ext cx="11887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Inter"/>
              </a:rPr>
              <a:t>25 /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DAHJT3CJFcg</dc:identifier>
  <dcterms:modified xsi:type="dcterms:W3CDTF">2011-08-01T06:04:30Z</dcterms:modified>
  <cp:revision>1</cp:revision>
  <dc:title>Validation_Commerciale_MLA_Diabetes_Pro.pptx</dc:title>
</cp:coreProperties>
</file>